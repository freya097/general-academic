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1" r:id="rId3"/>
    <p:sldId id="260" r:id="rId4"/>
    <p:sldId id="259" r:id="rId5"/>
    <p:sldId id="258" r:id="rId6"/>
    <p:sldId id="257" r:id="rId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9/9/2017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9/9/2017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9/9/2017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9/9/2017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9/9/2017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9/9/2017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9/9/2017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9/9/2017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9/9/2017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9/9/2017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9/9/2017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9/9/2017</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152400"/>
            <a:ext cx="7772400" cy="533401"/>
          </a:xfrm>
        </p:spPr>
        <p:txBody>
          <a:bodyPr>
            <a:normAutofit/>
          </a:bodyPr>
          <a:lstStyle/>
          <a:p>
            <a:r>
              <a:rPr lang="en-US" sz="2400" dirty="0" smtClean="0">
                <a:latin typeface="Times New Roman" pitchFamily="18" charset="0"/>
                <a:cs typeface="Times New Roman" pitchFamily="18" charset="0"/>
              </a:rPr>
              <a:t>DATA ABSTRACTION </a:t>
            </a:r>
            <a:endParaRPr lang="en-US" sz="2400" dirty="0">
              <a:latin typeface="Times New Roman" pitchFamily="18" charset="0"/>
              <a:cs typeface="Times New Roman" pitchFamily="18" charset="0"/>
            </a:endParaRPr>
          </a:p>
        </p:txBody>
      </p:sp>
      <p:sp>
        <p:nvSpPr>
          <p:cNvPr id="3" name="Subtitle 2"/>
          <p:cNvSpPr>
            <a:spLocks noGrp="1"/>
          </p:cNvSpPr>
          <p:nvPr>
            <p:ph type="subTitle" idx="1"/>
          </p:nvPr>
        </p:nvSpPr>
        <p:spPr>
          <a:xfrm>
            <a:off x="457200" y="685800"/>
            <a:ext cx="8305800" cy="6019800"/>
          </a:xfrm>
        </p:spPr>
        <p:txBody>
          <a:bodyPr>
            <a:normAutofit/>
          </a:bodyPr>
          <a:lstStyle/>
          <a:p>
            <a:r>
              <a:rPr lang="en-US" sz="2800" dirty="0" smtClean="0">
                <a:solidFill>
                  <a:schemeClr val="tx1"/>
                </a:solidFill>
                <a:latin typeface="Times New Roman" pitchFamily="18" charset="0"/>
                <a:cs typeface="Times New Roman" pitchFamily="18" charset="0"/>
              </a:rPr>
              <a:t>Data abstraction refers to providing only essential information to the outside world and hiding their background details.</a:t>
            </a:r>
          </a:p>
          <a:p>
            <a:endParaRPr lang="en-US" sz="2800" dirty="0" smtClean="0">
              <a:solidFill>
                <a:schemeClr val="tx1"/>
              </a:solidFill>
              <a:latin typeface="Times New Roman" pitchFamily="18" charset="0"/>
              <a:cs typeface="Times New Roman" pitchFamily="18" charset="0"/>
            </a:endParaRPr>
          </a:p>
          <a:p>
            <a:r>
              <a:rPr lang="en-US" sz="2800" dirty="0" smtClean="0">
                <a:solidFill>
                  <a:schemeClr val="tx1"/>
                </a:solidFill>
                <a:latin typeface="Times New Roman" pitchFamily="18" charset="0"/>
                <a:cs typeface="Times New Roman" pitchFamily="18" charset="0"/>
              </a:rPr>
              <a:t>Data abstraction is a programming (and design) technique that relies on the separation of interface and implementation.</a:t>
            </a:r>
          </a:p>
          <a:p>
            <a:endParaRPr lang="en-US" sz="2800" dirty="0" smtClean="0">
              <a:solidFill>
                <a:schemeClr val="tx1"/>
              </a:solidFill>
              <a:latin typeface="Times New Roman" pitchFamily="18" charset="0"/>
              <a:cs typeface="Times New Roman" pitchFamily="18" charset="0"/>
            </a:endParaRPr>
          </a:p>
          <a:p>
            <a:r>
              <a:rPr lang="en-US" sz="2800" dirty="0" smtClean="0">
                <a:solidFill>
                  <a:schemeClr val="tx1"/>
                </a:solidFill>
                <a:latin typeface="Times New Roman" pitchFamily="18" charset="0"/>
                <a:cs typeface="Times New Roman" pitchFamily="18" charset="0"/>
              </a:rPr>
              <a:t>They provide sufficient public methods to the outside world to play with the functionality of the object and to manipulate object data, i.e., state without actually knowing how class has been implemented internally. </a:t>
            </a:r>
            <a:endParaRPr lang="en-US" sz="2800" dirty="0">
              <a:solidFill>
                <a:schemeClr val="tx1"/>
              </a:solidFill>
              <a:latin typeface="Times New Roman" pitchFamily="18" charset="0"/>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381000"/>
          </a:xfrm>
        </p:spPr>
        <p:txBody>
          <a:bodyPr>
            <a:normAutofit fontScale="90000"/>
          </a:bodyPr>
          <a:lstStyle/>
          <a:p>
            <a:r>
              <a:rPr lang="en-US" sz="2000" dirty="0" smtClean="0">
                <a:latin typeface="Times New Roman" pitchFamily="18" charset="0"/>
                <a:cs typeface="Times New Roman" pitchFamily="18" charset="0"/>
              </a:rPr>
              <a:t>Program</a:t>
            </a:r>
            <a:endParaRPr lang="en-US" sz="20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838200"/>
            <a:ext cx="8229600" cy="5791200"/>
          </a:xfrm>
        </p:spPr>
        <p:txBody>
          <a:bodyPr/>
          <a:lstStyle/>
          <a:p>
            <a:r>
              <a:rPr lang="en-US" dirty="0" smtClean="0">
                <a:latin typeface="Times New Roman" pitchFamily="18" charset="0"/>
                <a:cs typeface="Times New Roman" pitchFamily="18" charset="0"/>
              </a:rPr>
              <a:t>#include &lt;</a:t>
            </a:r>
            <a:r>
              <a:rPr lang="en-US" dirty="0" err="1" smtClean="0">
                <a:latin typeface="Times New Roman" pitchFamily="18" charset="0"/>
                <a:cs typeface="Times New Roman" pitchFamily="18" charset="0"/>
              </a:rPr>
              <a:t>iostream</a:t>
            </a:r>
            <a:r>
              <a:rPr lang="en-US" dirty="0" smtClean="0">
                <a:latin typeface="Times New Roman" pitchFamily="18" charset="0"/>
                <a:cs typeface="Times New Roman" pitchFamily="18" charset="0"/>
              </a:rPr>
              <a:t>&gt; </a:t>
            </a:r>
          </a:p>
          <a:p>
            <a:r>
              <a:rPr lang="en-US" dirty="0" smtClean="0">
                <a:latin typeface="Times New Roman" pitchFamily="18" charset="0"/>
                <a:cs typeface="Times New Roman" pitchFamily="18" charset="0"/>
              </a:rPr>
              <a:t>using namespace std; </a:t>
            </a:r>
          </a:p>
          <a:p>
            <a:r>
              <a:rPr lang="en-US" dirty="0" err="1" smtClean="0">
                <a:latin typeface="Times New Roman" pitchFamily="18" charset="0"/>
                <a:cs typeface="Times New Roman" pitchFamily="18" charset="0"/>
              </a:rPr>
              <a:t>int</a:t>
            </a:r>
            <a:r>
              <a:rPr lang="en-US" dirty="0" smtClean="0">
                <a:latin typeface="Times New Roman" pitchFamily="18" charset="0"/>
                <a:cs typeface="Times New Roman" pitchFamily="18" charset="0"/>
              </a:rPr>
              <a:t> main( ) </a:t>
            </a:r>
          </a:p>
          <a:p>
            <a:r>
              <a:rPr lang="en-US" dirty="0" smtClean="0">
                <a:latin typeface="Times New Roman" pitchFamily="18" charset="0"/>
                <a:cs typeface="Times New Roman" pitchFamily="18" charset="0"/>
              </a:rPr>
              <a:t>{ </a:t>
            </a:r>
          </a:p>
          <a:p>
            <a:r>
              <a:rPr lang="en-US" dirty="0" err="1" smtClean="0">
                <a:latin typeface="Times New Roman" pitchFamily="18" charset="0"/>
                <a:cs typeface="Times New Roman" pitchFamily="18" charset="0"/>
              </a:rPr>
              <a:t>cout</a:t>
            </a:r>
            <a:r>
              <a:rPr lang="en-US" dirty="0" smtClean="0">
                <a:latin typeface="Times New Roman" pitchFamily="18" charset="0"/>
                <a:cs typeface="Times New Roman" pitchFamily="18" charset="0"/>
              </a:rPr>
              <a:t> &lt;&lt; "Hello C++" &lt;&lt;</a:t>
            </a:r>
            <a:r>
              <a:rPr lang="en-US" dirty="0" err="1" smtClean="0">
                <a:latin typeface="Times New Roman" pitchFamily="18" charset="0"/>
                <a:cs typeface="Times New Roman" pitchFamily="18" charset="0"/>
              </a:rPr>
              <a:t>endl</a:t>
            </a:r>
            <a:r>
              <a:rPr lang="en-US" dirty="0" smtClean="0">
                <a:latin typeface="Times New Roman" pitchFamily="18" charset="0"/>
                <a:cs typeface="Times New Roman" pitchFamily="18" charset="0"/>
              </a:rPr>
              <a:t>; </a:t>
            </a:r>
          </a:p>
          <a:p>
            <a:r>
              <a:rPr lang="en-US" dirty="0" smtClean="0">
                <a:latin typeface="Times New Roman" pitchFamily="18" charset="0"/>
                <a:cs typeface="Times New Roman" pitchFamily="18" charset="0"/>
              </a:rPr>
              <a:t>return 0; </a:t>
            </a:r>
          </a:p>
          <a:p>
            <a:r>
              <a:rPr lang="en-US" dirty="0" smtClean="0">
                <a:latin typeface="Times New Roman" pitchFamily="18" charset="0"/>
                <a:cs typeface="Times New Roman" pitchFamily="18" charset="0"/>
              </a:rPr>
              <a:t>} </a:t>
            </a:r>
            <a:endParaRPr lang="en-US" dirty="0">
              <a:latin typeface="Times New Roman" pitchFamily="18" charset="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457200"/>
          </a:xfrm>
        </p:spPr>
        <p:txBody>
          <a:bodyPr>
            <a:normAutofit/>
          </a:bodyPr>
          <a:lstStyle/>
          <a:p>
            <a:r>
              <a:rPr lang="en-US" sz="2000" dirty="0" smtClean="0">
                <a:latin typeface="Times New Roman" pitchFamily="18" charset="0"/>
                <a:cs typeface="Times New Roman" pitchFamily="18" charset="0"/>
              </a:rPr>
              <a:t>Access Labels Enforce Abstraction</a:t>
            </a:r>
            <a:endParaRPr lang="en-US" sz="20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838200"/>
            <a:ext cx="8229600" cy="5715000"/>
          </a:xfrm>
        </p:spPr>
        <p:txBody>
          <a:bodyPr/>
          <a:lstStyle/>
          <a:p>
            <a:r>
              <a:rPr lang="en-US" dirty="0" smtClean="0">
                <a:latin typeface="Times New Roman" pitchFamily="18" charset="0"/>
                <a:cs typeface="Times New Roman" pitchFamily="18" charset="0"/>
              </a:rPr>
              <a:t>Members defined with a public label are accessible to all parts of the program. The data-abstraction view of a type is defined by its public members. </a:t>
            </a:r>
          </a:p>
          <a:p>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Members defined with a private label are not accessible to code that uses the class. The private sections hide the implementation from code that uses the type. </a:t>
            </a:r>
          </a:p>
          <a:p>
            <a:endParaRPr lang="en-US" dirty="0" smtClean="0"/>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457200"/>
          </a:xfrm>
        </p:spPr>
        <p:txBody>
          <a:bodyPr>
            <a:normAutofit/>
          </a:bodyPr>
          <a:lstStyle/>
          <a:p>
            <a:r>
              <a:rPr lang="en-US" sz="2000" dirty="0" smtClean="0">
                <a:latin typeface="Times New Roman" pitchFamily="18" charset="0"/>
                <a:cs typeface="Times New Roman" pitchFamily="18" charset="0"/>
              </a:rPr>
              <a:t>Benefits of </a:t>
            </a:r>
            <a:r>
              <a:rPr lang="en-US" sz="2000" dirty="0" smtClean="0">
                <a:latin typeface="Times New Roman" pitchFamily="18" charset="0"/>
                <a:cs typeface="Times New Roman" pitchFamily="18" charset="0"/>
              </a:rPr>
              <a:t> Data </a:t>
            </a:r>
            <a:r>
              <a:rPr lang="en-US" sz="2000" dirty="0" smtClean="0">
                <a:latin typeface="Times New Roman" pitchFamily="18" charset="0"/>
                <a:cs typeface="Times New Roman" pitchFamily="18" charset="0"/>
              </a:rPr>
              <a:t>Abstraction</a:t>
            </a:r>
            <a:endParaRPr lang="en-US" sz="20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762000"/>
            <a:ext cx="8229600" cy="5791200"/>
          </a:xfrm>
        </p:spPr>
        <p:txBody>
          <a:bodyPr/>
          <a:lstStyle/>
          <a:p>
            <a:r>
              <a:rPr lang="en-US" dirty="0" smtClean="0">
                <a:latin typeface="Times New Roman" pitchFamily="18" charset="0"/>
                <a:cs typeface="Times New Roman" pitchFamily="18" charset="0"/>
              </a:rPr>
              <a:t>Class internals are protected from inadvertent user-level errors, which might corrupt the state of the object.</a:t>
            </a:r>
          </a:p>
          <a:p>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The class implementation may evolve over time in response to changing requirements or bug reports without requiring change in user-level code.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457200"/>
          </a:xfrm>
        </p:spPr>
        <p:txBody>
          <a:bodyPr>
            <a:normAutofit/>
          </a:bodyPr>
          <a:lstStyle/>
          <a:p>
            <a:r>
              <a:rPr lang="en-US" sz="2400" dirty="0" smtClean="0">
                <a:latin typeface="Times New Roman" pitchFamily="18" charset="0"/>
                <a:cs typeface="Times New Roman" pitchFamily="18" charset="0"/>
              </a:rPr>
              <a:t>Data Abstraction Example</a:t>
            </a:r>
            <a:endParaRPr lang="en-US" sz="24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762000"/>
            <a:ext cx="8229600" cy="5791200"/>
          </a:xfrm>
        </p:spPr>
        <p:txBody>
          <a:bodyPr>
            <a:normAutofit fontScale="47500" lnSpcReduction="20000"/>
          </a:bodyPr>
          <a:lstStyle/>
          <a:p>
            <a:r>
              <a:rPr lang="en-US" dirty="0" smtClean="0">
                <a:latin typeface="Times New Roman" pitchFamily="18" charset="0"/>
                <a:cs typeface="Times New Roman" pitchFamily="18" charset="0"/>
              </a:rPr>
              <a:t>#include &lt;</a:t>
            </a:r>
            <a:r>
              <a:rPr lang="en-US" dirty="0" err="1" smtClean="0">
                <a:latin typeface="Times New Roman" pitchFamily="18" charset="0"/>
                <a:cs typeface="Times New Roman" pitchFamily="18" charset="0"/>
              </a:rPr>
              <a:t>iostream</a:t>
            </a:r>
            <a:r>
              <a:rPr lang="en-US" dirty="0" smtClean="0">
                <a:latin typeface="Times New Roman" pitchFamily="18" charset="0"/>
                <a:cs typeface="Times New Roman" pitchFamily="18" charset="0"/>
              </a:rPr>
              <a:t>&gt; </a:t>
            </a:r>
          </a:p>
          <a:p>
            <a:r>
              <a:rPr lang="en-US" dirty="0" smtClean="0">
                <a:latin typeface="Times New Roman" pitchFamily="18" charset="0"/>
                <a:cs typeface="Times New Roman" pitchFamily="18" charset="0"/>
              </a:rPr>
              <a:t>using namespace std; </a:t>
            </a:r>
          </a:p>
          <a:p>
            <a:r>
              <a:rPr lang="en-US" dirty="0" smtClean="0">
                <a:latin typeface="Times New Roman" pitchFamily="18" charset="0"/>
                <a:cs typeface="Times New Roman" pitchFamily="18" charset="0"/>
              </a:rPr>
              <a:t>class Adder{ </a:t>
            </a:r>
          </a:p>
          <a:p>
            <a:r>
              <a:rPr lang="en-US" dirty="0" smtClean="0">
                <a:latin typeface="Times New Roman" pitchFamily="18" charset="0"/>
                <a:cs typeface="Times New Roman" pitchFamily="18" charset="0"/>
              </a:rPr>
              <a:t>public: </a:t>
            </a:r>
          </a:p>
          <a:p>
            <a:r>
              <a:rPr lang="en-US" dirty="0" smtClean="0">
                <a:latin typeface="Times New Roman" pitchFamily="18" charset="0"/>
                <a:cs typeface="Times New Roman" pitchFamily="18" charset="0"/>
              </a:rPr>
              <a:t>// constructor </a:t>
            </a:r>
          </a:p>
          <a:p>
            <a:r>
              <a:rPr lang="en-US" dirty="0" smtClean="0">
                <a:latin typeface="Times New Roman" pitchFamily="18" charset="0"/>
                <a:cs typeface="Times New Roman" pitchFamily="18" charset="0"/>
              </a:rPr>
              <a:t>Adder(</a:t>
            </a:r>
            <a:r>
              <a:rPr lang="en-US" dirty="0" err="1" smtClean="0">
                <a:latin typeface="Times New Roman" pitchFamily="18" charset="0"/>
                <a:cs typeface="Times New Roman" pitchFamily="18" charset="0"/>
              </a:rPr>
              <a:t>int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i</a:t>
            </a:r>
            <a:r>
              <a:rPr lang="en-US" dirty="0" smtClean="0">
                <a:latin typeface="Times New Roman" pitchFamily="18" charset="0"/>
                <a:cs typeface="Times New Roman" pitchFamily="18" charset="0"/>
              </a:rPr>
              <a:t> = 0) </a:t>
            </a:r>
          </a:p>
          <a:p>
            <a:r>
              <a:rPr lang="en-US" dirty="0" smtClean="0">
                <a:latin typeface="Times New Roman" pitchFamily="18" charset="0"/>
                <a:cs typeface="Times New Roman" pitchFamily="18" charset="0"/>
              </a:rPr>
              <a:t>{ </a:t>
            </a:r>
          </a:p>
          <a:p>
            <a:r>
              <a:rPr lang="en-US" dirty="0" smtClean="0">
                <a:latin typeface="Times New Roman" pitchFamily="18" charset="0"/>
                <a:cs typeface="Times New Roman" pitchFamily="18" charset="0"/>
              </a:rPr>
              <a:t>total = </a:t>
            </a:r>
            <a:r>
              <a:rPr lang="en-US" dirty="0" err="1" smtClean="0">
                <a:latin typeface="Times New Roman" pitchFamily="18" charset="0"/>
                <a:cs typeface="Times New Roman" pitchFamily="18" charset="0"/>
              </a:rPr>
              <a:t>i</a:t>
            </a:r>
            <a:r>
              <a:rPr lang="en-US" dirty="0" smtClean="0">
                <a:latin typeface="Times New Roman" pitchFamily="18" charset="0"/>
                <a:cs typeface="Times New Roman" pitchFamily="18" charset="0"/>
              </a:rPr>
              <a:t>; </a:t>
            </a:r>
          </a:p>
          <a:p>
            <a:r>
              <a:rPr lang="en-US" dirty="0" smtClean="0">
                <a:latin typeface="Times New Roman" pitchFamily="18" charset="0"/>
                <a:cs typeface="Times New Roman" pitchFamily="18" charset="0"/>
              </a:rPr>
              <a:t>} </a:t>
            </a:r>
          </a:p>
          <a:p>
            <a:r>
              <a:rPr lang="en-US" dirty="0" smtClean="0">
                <a:latin typeface="Times New Roman" pitchFamily="18" charset="0"/>
                <a:cs typeface="Times New Roman" pitchFamily="18" charset="0"/>
              </a:rPr>
              <a:t>// interface to outside world </a:t>
            </a:r>
          </a:p>
          <a:p>
            <a:r>
              <a:rPr lang="en-US" dirty="0" smtClean="0">
                <a:latin typeface="Times New Roman" pitchFamily="18" charset="0"/>
                <a:cs typeface="Times New Roman" pitchFamily="18" charset="0"/>
              </a:rPr>
              <a:t>void </a:t>
            </a:r>
            <a:r>
              <a:rPr lang="en-US" dirty="0" err="1" smtClean="0">
                <a:latin typeface="Times New Roman" pitchFamily="18" charset="0"/>
                <a:cs typeface="Times New Roman" pitchFamily="18" charset="0"/>
              </a:rPr>
              <a:t>addNum</a:t>
            </a:r>
            <a:r>
              <a:rPr lang="en-US" dirty="0" smtClean="0">
                <a:latin typeface="Times New Roman" pitchFamily="18" charset="0"/>
                <a:cs typeface="Times New Roman" pitchFamily="18" charset="0"/>
              </a:rPr>
              <a:t>(</a:t>
            </a:r>
            <a:r>
              <a:rPr lang="en-US" dirty="0" err="1" smtClean="0">
                <a:latin typeface="Times New Roman" pitchFamily="18" charset="0"/>
                <a:cs typeface="Times New Roman" pitchFamily="18" charset="0"/>
              </a:rPr>
              <a:t>int</a:t>
            </a:r>
            <a:r>
              <a:rPr lang="en-US" dirty="0" smtClean="0">
                <a:latin typeface="Times New Roman" pitchFamily="18" charset="0"/>
                <a:cs typeface="Times New Roman" pitchFamily="18" charset="0"/>
              </a:rPr>
              <a:t> number) </a:t>
            </a:r>
          </a:p>
          <a:p>
            <a:r>
              <a:rPr lang="en-US" dirty="0" smtClean="0">
                <a:latin typeface="Times New Roman" pitchFamily="18" charset="0"/>
                <a:cs typeface="Times New Roman" pitchFamily="18" charset="0"/>
              </a:rPr>
              <a:t>{ </a:t>
            </a:r>
          </a:p>
          <a:p>
            <a:r>
              <a:rPr lang="en-US" dirty="0" smtClean="0">
                <a:latin typeface="Times New Roman" pitchFamily="18" charset="0"/>
                <a:cs typeface="Times New Roman" pitchFamily="18" charset="0"/>
              </a:rPr>
              <a:t>total += number; </a:t>
            </a:r>
          </a:p>
          <a:p>
            <a:r>
              <a:rPr lang="en-US" dirty="0" smtClean="0">
                <a:latin typeface="Times New Roman" pitchFamily="18" charset="0"/>
                <a:cs typeface="Times New Roman" pitchFamily="18" charset="0"/>
              </a:rPr>
              <a:t>} </a:t>
            </a:r>
          </a:p>
          <a:p>
            <a:r>
              <a:rPr lang="en-US" dirty="0" smtClean="0">
                <a:latin typeface="Times New Roman" pitchFamily="18" charset="0"/>
                <a:cs typeface="Times New Roman" pitchFamily="18" charset="0"/>
              </a:rPr>
              <a:t>// interface to outside world </a:t>
            </a:r>
          </a:p>
          <a:p>
            <a:r>
              <a:rPr lang="en-US" dirty="0" err="1" smtClean="0">
                <a:latin typeface="Times New Roman" pitchFamily="18" charset="0"/>
                <a:cs typeface="Times New Roman" pitchFamily="18" charset="0"/>
              </a:rPr>
              <a:t>int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getTotal</a:t>
            </a:r>
            <a:r>
              <a:rPr lang="en-US" dirty="0" smtClean="0">
                <a:latin typeface="Times New Roman" pitchFamily="18" charset="0"/>
                <a:cs typeface="Times New Roman" pitchFamily="18" charset="0"/>
              </a:rPr>
              <a:t>() </a:t>
            </a:r>
          </a:p>
          <a:p>
            <a:r>
              <a:rPr lang="en-US" dirty="0" smtClean="0">
                <a:latin typeface="Times New Roman" pitchFamily="18" charset="0"/>
                <a:cs typeface="Times New Roman" pitchFamily="18" charset="0"/>
              </a:rPr>
              <a:t>{ </a:t>
            </a:r>
          </a:p>
          <a:p>
            <a:r>
              <a:rPr lang="en-US" dirty="0" smtClean="0">
                <a:latin typeface="Times New Roman" pitchFamily="18" charset="0"/>
                <a:cs typeface="Times New Roman" pitchFamily="18" charset="0"/>
              </a:rPr>
              <a:t>return total; </a:t>
            </a:r>
          </a:p>
          <a:p>
            <a:r>
              <a:rPr lang="en-US" dirty="0" smtClean="0">
                <a:latin typeface="Times New Roman" pitchFamily="18" charset="0"/>
                <a:cs typeface="Times New Roman" pitchFamily="18" charset="0"/>
              </a:rPr>
              <a:t>}; </a:t>
            </a:r>
          </a:p>
          <a:p>
            <a:r>
              <a:rPr lang="en-US" dirty="0" smtClean="0">
                <a:latin typeface="Times New Roman" pitchFamily="18" charset="0"/>
                <a:cs typeface="Times New Roman" pitchFamily="18" charset="0"/>
              </a:rPr>
              <a:t>private: </a:t>
            </a:r>
          </a:p>
          <a:p>
            <a:r>
              <a:rPr lang="en-US" dirty="0" smtClean="0">
                <a:latin typeface="Times New Roman" pitchFamily="18" charset="0"/>
                <a:cs typeface="Times New Roman" pitchFamily="18" charset="0"/>
              </a:rPr>
              <a:t>// hidden data from outside world </a:t>
            </a:r>
          </a:p>
          <a:p>
            <a:r>
              <a:rPr lang="en-US" dirty="0" err="1" smtClean="0">
                <a:latin typeface="Times New Roman" pitchFamily="18" charset="0"/>
                <a:cs typeface="Times New Roman" pitchFamily="18" charset="0"/>
              </a:rPr>
              <a:t>int</a:t>
            </a:r>
            <a:r>
              <a:rPr lang="en-US" dirty="0" smtClean="0">
                <a:latin typeface="Times New Roman" pitchFamily="18" charset="0"/>
                <a:cs typeface="Times New Roman" pitchFamily="18" charset="0"/>
              </a:rPr>
              <a:t> total; </a:t>
            </a:r>
          </a:p>
          <a:p>
            <a:r>
              <a:rPr lang="en-US" dirty="0" smtClean="0">
                <a:latin typeface="Times New Roman" pitchFamily="18" charset="0"/>
                <a:cs typeface="Times New Roman" pitchFamily="18" charset="0"/>
              </a:rPr>
              <a:t>}; </a:t>
            </a:r>
            <a:endParaRPr lang="en-US" dirty="0">
              <a:latin typeface="Times New Roman" pitchFamily="18" charset="0"/>
              <a:cs typeface="Times New Roman"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a:bodyPr>
          <a:lstStyle/>
          <a:p>
            <a:r>
              <a:rPr lang="en-US" dirty="0" err="1" smtClean="0">
                <a:latin typeface="Times New Roman" pitchFamily="18" charset="0"/>
                <a:cs typeface="Times New Roman" pitchFamily="18" charset="0"/>
              </a:rPr>
              <a:t>int</a:t>
            </a:r>
            <a:r>
              <a:rPr lang="en-US" dirty="0" smtClean="0">
                <a:latin typeface="Times New Roman" pitchFamily="18" charset="0"/>
                <a:cs typeface="Times New Roman" pitchFamily="18" charset="0"/>
              </a:rPr>
              <a:t> main( ) </a:t>
            </a:r>
          </a:p>
          <a:p>
            <a:r>
              <a:rPr lang="en-US" dirty="0" smtClean="0">
                <a:latin typeface="Times New Roman" pitchFamily="18" charset="0"/>
                <a:cs typeface="Times New Roman" pitchFamily="18" charset="0"/>
              </a:rPr>
              <a:t>{ </a:t>
            </a:r>
          </a:p>
          <a:p>
            <a:r>
              <a:rPr lang="en-US" dirty="0" smtClean="0">
                <a:latin typeface="Times New Roman" pitchFamily="18" charset="0"/>
                <a:cs typeface="Times New Roman" pitchFamily="18" charset="0"/>
              </a:rPr>
              <a:t>Adder a; </a:t>
            </a:r>
          </a:p>
          <a:p>
            <a:r>
              <a:rPr lang="en-US" dirty="0" err="1" smtClean="0">
                <a:latin typeface="Times New Roman" pitchFamily="18" charset="0"/>
                <a:cs typeface="Times New Roman" pitchFamily="18" charset="0"/>
              </a:rPr>
              <a:t>a.addNum</a:t>
            </a:r>
            <a:r>
              <a:rPr lang="en-US" dirty="0" smtClean="0">
                <a:latin typeface="Times New Roman" pitchFamily="18" charset="0"/>
                <a:cs typeface="Times New Roman" pitchFamily="18" charset="0"/>
              </a:rPr>
              <a:t>(10); </a:t>
            </a:r>
          </a:p>
          <a:p>
            <a:r>
              <a:rPr lang="en-US" dirty="0" err="1" smtClean="0">
                <a:latin typeface="Times New Roman" pitchFamily="18" charset="0"/>
                <a:cs typeface="Times New Roman" pitchFamily="18" charset="0"/>
              </a:rPr>
              <a:t>a.addNum</a:t>
            </a:r>
            <a:r>
              <a:rPr lang="en-US" dirty="0" smtClean="0">
                <a:latin typeface="Times New Roman" pitchFamily="18" charset="0"/>
                <a:cs typeface="Times New Roman" pitchFamily="18" charset="0"/>
              </a:rPr>
              <a:t>(20); </a:t>
            </a:r>
          </a:p>
          <a:p>
            <a:r>
              <a:rPr lang="en-US" dirty="0" err="1" smtClean="0">
                <a:latin typeface="Times New Roman" pitchFamily="18" charset="0"/>
                <a:cs typeface="Times New Roman" pitchFamily="18" charset="0"/>
              </a:rPr>
              <a:t>a.addNum</a:t>
            </a:r>
            <a:r>
              <a:rPr lang="en-US" dirty="0" smtClean="0">
                <a:latin typeface="Times New Roman" pitchFamily="18" charset="0"/>
                <a:cs typeface="Times New Roman" pitchFamily="18" charset="0"/>
              </a:rPr>
              <a:t>(30); </a:t>
            </a:r>
          </a:p>
          <a:p>
            <a:r>
              <a:rPr lang="en-US" dirty="0" err="1" smtClean="0">
                <a:latin typeface="Times New Roman" pitchFamily="18" charset="0"/>
                <a:cs typeface="Times New Roman" pitchFamily="18" charset="0"/>
              </a:rPr>
              <a:t>cout</a:t>
            </a:r>
            <a:r>
              <a:rPr lang="en-US" dirty="0" smtClean="0">
                <a:latin typeface="Times New Roman" pitchFamily="18" charset="0"/>
                <a:cs typeface="Times New Roman" pitchFamily="18" charset="0"/>
              </a:rPr>
              <a:t> &lt;&lt; "Total " &lt;&lt; </a:t>
            </a:r>
            <a:r>
              <a:rPr lang="en-US" dirty="0" err="1" smtClean="0">
                <a:latin typeface="Times New Roman" pitchFamily="18" charset="0"/>
                <a:cs typeface="Times New Roman" pitchFamily="18" charset="0"/>
              </a:rPr>
              <a:t>a.getTotal</a:t>
            </a:r>
            <a:r>
              <a:rPr lang="en-US" dirty="0" smtClean="0">
                <a:latin typeface="Times New Roman" pitchFamily="18" charset="0"/>
                <a:cs typeface="Times New Roman" pitchFamily="18" charset="0"/>
              </a:rPr>
              <a:t>() &lt;&lt;</a:t>
            </a:r>
            <a:r>
              <a:rPr lang="en-US" dirty="0" err="1" smtClean="0">
                <a:latin typeface="Times New Roman" pitchFamily="18" charset="0"/>
                <a:cs typeface="Times New Roman" pitchFamily="18" charset="0"/>
              </a:rPr>
              <a:t>endl</a:t>
            </a:r>
            <a:r>
              <a:rPr lang="en-US" dirty="0" smtClean="0">
                <a:latin typeface="Times New Roman" pitchFamily="18" charset="0"/>
                <a:cs typeface="Times New Roman" pitchFamily="18" charset="0"/>
              </a:rPr>
              <a:t>; </a:t>
            </a:r>
          </a:p>
          <a:p>
            <a:r>
              <a:rPr lang="en-US" dirty="0" smtClean="0">
                <a:latin typeface="Times New Roman" pitchFamily="18" charset="0"/>
                <a:cs typeface="Times New Roman" pitchFamily="18" charset="0"/>
              </a:rPr>
              <a:t>return 0; </a:t>
            </a:r>
          </a:p>
          <a:p>
            <a:r>
              <a:rPr lang="en-US" dirty="0" smtClean="0">
                <a:latin typeface="Times New Roman" pitchFamily="18" charset="0"/>
                <a:cs typeface="Times New Roman" pitchFamily="18" charset="0"/>
              </a:rPr>
              <a:t>} </a:t>
            </a:r>
            <a:endParaRPr lang="en-US" dirty="0">
              <a:latin typeface="Times New Roman" pitchFamily="18" charset="0"/>
              <a:cs typeface="Times New Roman"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308</Words>
  <Application>Microsoft Office PowerPoint</Application>
  <PresentationFormat>On-screen Show (4:3)</PresentationFormat>
  <Paragraphs>55</Paragraphs>
  <Slides>6</Slides>
  <Notes>0</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Office Theme</vt:lpstr>
      <vt:lpstr>DATA ABSTRACTION </vt:lpstr>
      <vt:lpstr>Program</vt:lpstr>
      <vt:lpstr>Access Labels Enforce Abstraction</vt:lpstr>
      <vt:lpstr>Benefits of  Data Abstraction</vt:lpstr>
      <vt:lpstr>Data Abstraction Example</vt:lpstr>
      <vt:lpstr>Slide 6</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ABSTRACTION </dc:title>
  <dc:creator>D3LL</dc:creator>
  <cp:lastModifiedBy>HCT</cp:lastModifiedBy>
  <cp:revision>6</cp:revision>
  <dcterms:created xsi:type="dcterms:W3CDTF">2006-08-16T00:00:00Z</dcterms:created>
  <dcterms:modified xsi:type="dcterms:W3CDTF">2017-09-09T11:20:32Z</dcterms:modified>
</cp:coreProperties>
</file>