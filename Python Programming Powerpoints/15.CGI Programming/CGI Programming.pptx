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2" r:id="rId4"/>
    <p:sldId id="261" r:id="rId5"/>
    <p:sldId id="260" r:id="rId6"/>
    <p:sldId id="259" r:id="rId7"/>
    <p:sldId id="257" r:id="rId8"/>
    <p:sldId id="266" r:id="rId9"/>
    <p:sldId id="265" r:id="rId10"/>
    <p:sldId id="264" r:id="rId11"/>
    <p:sldId id="263" r:id="rId12"/>
    <p:sldId id="270" r:id="rId13"/>
    <p:sldId id="269" r:id="rId14"/>
    <p:sldId id="268" r:id="rId15"/>
    <p:sldId id="267" r:id="rId16"/>
    <p:sldId id="273" r:id="rId17"/>
    <p:sldId id="272" r:id="rId18"/>
    <p:sldId id="274" r:id="rId19"/>
    <p:sldId id="271" r:id="rId20"/>
    <p:sldId id="277" r:id="rId21"/>
    <p:sldId id="278" r:id="rId22"/>
    <p:sldId id="276" r:id="rId23"/>
    <p:sldId id="275" r:id="rId24"/>
    <p:sldId id="281" r:id="rId25"/>
    <p:sldId id="280" r:id="rId26"/>
    <p:sldId id="279" r:id="rId27"/>
    <p:sldId id="285" r:id="rId28"/>
    <p:sldId id="284" r:id="rId29"/>
    <p:sldId id="283" r:id="rId30"/>
    <p:sldId id="282" r:id="rId31"/>
    <p:sldId id="288" r:id="rId32"/>
    <p:sldId id="287" r:id="rId33"/>
    <p:sldId id="286" r:id="rId34"/>
    <p:sldId id="291" r:id="rId35"/>
    <p:sldId id="290" r:id="rId36"/>
    <p:sldId id="289" r:id="rId37"/>
    <p:sldId id="293" r:id="rId38"/>
    <p:sldId id="292"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5/2/2017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5/2/2017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5/2/2017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95400" y="152401"/>
            <a:ext cx="6781800" cy="685800"/>
          </a:xfrm>
        </p:spPr>
        <p:txBody>
          <a:bodyPr>
            <a:normAutofit/>
          </a:bodyPr>
          <a:lstStyle/>
          <a:p>
            <a:r>
              <a:rPr lang="en-US" sz="2400" b="1" dirty="0" smtClean="0">
                <a:latin typeface="Times New Roman" pitchFamily="18" charset="0"/>
                <a:cs typeface="Times New Roman" pitchFamily="18" charset="0"/>
              </a:rPr>
              <a:t>CGI </a:t>
            </a:r>
            <a:r>
              <a:rPr lang="en-US" sz="2400" b="1" dirty="0" smtClean="0">
                <a:latin typeface="Times New Roman" pitchFamily="18" charset="0"/>
                <a:cs typeface="Times New Roman" pitchFamily="18" charset="0"/>
              </a:rPr>
              <a:t>  PROGRAMMING </a:t>
            </a:r>
            <a:endParaRPr lang="en-US" sz="2400" b="1" dirty="0">
              <a:latin typeface="Times New Roman" pitchFamily="18" charset="0"/>
              <a:cs typeface="Times New Roman" pitchFamily="18" charset="0"/>
            </a:endParaRPr>
          </a:p>
        </p:txBody>
      </p:sp>
      <p:sp>
        <p:nvSpPr>
          <p:cNvPr id="3" name="Subtitle 2"/>
          <p:cNvSpPr>
            <a:spLocks noGrp="1"/>
          </p:cNvSpPr>
          <p:nvPr>
            <p:ph type="subTitle" idx="1"/>
          </p:nvPr>
        </p:nvSpPr>
        <p:spPr>
          <a:xfrm>
            <a:off x="304800" y="1066800"/>
            <a:ext cx="8534400" cy="5105400"/>
          </a:xfrm>
        </p:spPr>
        <p:txBody>
          <a:bodyPr>
            <a:noAutofit/>
          </a:bodyPr>
          <a:lstStyle/>
          <a:p>
            <a:r>
              <a:rPr lang="en-US" sz="2400" dirty="0" smtClean="0">
                <a:solidFill>
                  <a:schemeClr val="tx1">
                    <a:lumMod val="95000"/>
                    <a:lumOff val="5000"/>
                  </a:schemeClr>
                </a:solidFill>
                <a:latin typeface="Times New Roman" pitchFamily="18" charset="0"/>
                <a:cs typeface="Times New Roman" pitchFamily="18" charset="0"/>
              </a:rPr>
              <a:t>The Common Gateway Interface, or CGI, is a set of standards that define how information is exchanged between the web server and a custom script. </a:t>
            </a:r>
            <a:endParaRPr lang="en-US" sz="2400" dirty="0" smtClean="0">
              <a:solidFill>
                <a:schemeClr val="tx1">
                  <a:lumMod val="95000"/>
                  <a:lumOff val="5000"/>
                </a:schemeClr>
              </a:solidFill>
              <a:latin typeface="Times New Roman" pitchFamily="18" charset="0"/>
              <a:cs typeface="Times New Roman" pitchFamily="18" charset="0"/>
            </a:endParaRPr>
          </a:p>
          <a:p>
            <a:endParaRPr lang="en-US" sz="2400" dirty="0" smtClean="0">
              <a:solidFill>
                <a:schemeClr val="tx1">
                  <a:lumMod val="95000"/>
                  <a:lumOff val="5000"/>
                </a:schemeClr>
              </a:solidFill>
              <a:latin typeface="Times New Roman" pitchFamily="18" charset="0"/>
              <a:cs typeface="Times New Roman" pitchFamily="18" charset="0"/>
            </a:endParaRPr>
          </a:p>
          <a:p>
            <a:r>
              <a:rPr lang="en-US" sz="2400" dirty="0" smtClean="0">
                <a:solidFill>
                  <a:schemeClr val="tx1">
                    <a:lumMod val="95000"/>
                    <a:lumOff val="5000"/>
                  </a:schemeClr>
                </a:solidFill>
                <a:latin typeface="Times New Roman" pitchFamily="18" charset="0"/>
                <a:cs typeface="Times New Roman" pitchFamily="18" charset="0"/>
              </a:rPr>
              <a:t>The CGI specs are currently maintained by the NCSA and NCSA. </a:t>
            </a:r>
          </a:p>
          <a:p>
            <a:endParaRPr lang="en-US" sz="2400" dirty="0" smtClean="0">
              <a:solidFill>
                <a:schemeClr val="tx1">
                  <a:lumMod val="95000"/>
                  <a:lumOff val="5000"/>
                </a:schemeClr>
              </a:solidFill>
              <a:latin typeface="Times New Roman" pitchFamily="18" charset="0"/>
              <a:cs typeface="Times New Roman" pitchFamily="18" charset="0"/>
            </a:endParaRPr>
          </a:p>
          <a:p>
            <a:r>
              <a:rPr lang="en-US" sz="2400" dirty="0" smtClean="0">
                <a:solidFill>
                  <a:schemeClr val="tx1">
                    <a:lumMod val="95000"/>
                    <a:lumOff val="5000"/>
                  </a:schemeClr>
                </a:solidFill>
                <a:latin typeface="Times New Roman" pitchFamily="18" charset="0"/>
                <a:cs typeface="Times New Roman" pitchFamily="18" charset="0"/>
              </a:rPr>
              <a:t>The Common Gateway Interface, or CGI, is a standard for external gateway programs to interface with information servers such as HTTP servers. </a:t>
            </a:r>
          </a:p>
          <a:p>
            <a:endParaRPr lang="en-US" sz="2400" dirty="0" smtClean="0">
              <a:solidFill>
                <a:schemeClr val="tx1">
                  <a:lumMod val="95000"/>
                  <a:lumOff val="5000"/>
                </a:schemeClr>
              </a:solidFill>
              <a:latin typeface="Times New Roman" pitchFamily="18" charset="0"/>
              <a:cs typeface="Times New Roman" pitchFamily="18" charset="0"/>
            </a:endParaRPr>
          </a:p>
          <a:p>
            <a:r>
              <a:rPr lang="en-US" sz="2400" dirty="0" smtClean="0">
                <a:solidFill>
                  <a:schemeClr val="tx1">
                    <a:lumMod val="95000"/>
                    <a:lumOff val="5000"/>
                  </a:schemeClr>
                </a:solidFill>
                <a:latin typeface="Times New Roman" pitchFamily="18" charset="0"/>
                <a:cs typeface="Times New Roman" pitchFamily="18" charset="0"/>
              </a:rPr>
              <a:t>The current version is CGI/1.1 and CGI/1.2 is under progress.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5638800" cy="762000"/>
          </a:xfrm>
        </p:spPr>
        <p:txBody>
          <a:bodyPr>
            <a:normAutofit/>
          </a:bodyPr>
          <a:lstStyle/>
          <a:p>
            <a:r>
              <a:rPr lang="en-US" sz="2400" b="1" dirty="0" smtClean="0">
                <a:latin typeface="Times New Roman" pitchFamily="18" charset="0"/>
                <a:cs typeface="Times New Roman" pitchFamily="18" charset="0"/>
              </a:rPr>
              <a:t>Web Browsing</a:t>
            </a:r>
            <a:endParaRPr lang="en-US" sz="24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990600"/>
            <a:ext cx="8229600" cy="5029200"/>
          </a:xfrm>
        </p:spPr>
        <p:txBody>
          <a:bodyPr>
            <a:normAutofit/>
          </a:bodyPr>
          <a:lstStyle/>
          <a:p>
            <a:r>
              <a:rPr lang="en-US" sz="2800" dirty="0" smtClean="0">
                <a:latin typeface="Times New Roman" pitchFamily="18" charset="0"/>
                <a:cs typeface="Times New Roman" pitchFamily="18" charset="0"/>
              </a:rPr>
              <a:t>Your browser contacts the HTTP web server and demands for the URL, i.e., filename. </a:t>
            </a:r>
          </a:p>
          <a:p>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Web Server parses the URL and looks for the filename. If it finds that file then sends it back to the browser, otherwise sends an error message indicating that you requested a wrong file. </a:t>
            </a:r>
          </a:p>
          <a:p>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Web browser takes response from web server and displays either the received file or error message.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152400"/>
            <a:ext cx="4800600" cy="838200"/>
          </a:xfrm>
        </p:spPr>
        <p:txBody>
          <a:bodyPr>
            <a:normAutofit/>
          </a:bodyPr>
          <a:lstStyle/>
          <a:p>
            <a:r>
              <a:rPr lang="en-US" sz="2800" b="1" dirty="0" smtClean="0">
                <a:latin typeface="Times New Roman" pitchFamily="18" charset="0"/>
                <a:cs typeface="Times New Roman" pitchFamily="18" charset="0"/>
              </a:rPr>
              <a:t>CGI Architecture</a:t>
            </a:r>
            <a:endParaRPr lang="en-US" sz="28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1524000" y="914400"/>
            <a:ext cx="6096000" cy="5566493"/>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09600"/>
          </a:xfrm>
        </p:spPr>
        <p:txBody>
          <a:bodyPr>
            <a:normAutofit/>
          </a:bodyPr>
          <a:lstStyle/>
          <a:p>
            <a:r>
              <a:rPr lang="en-US" sz="2400" b="1" dirty="0" smtClean="0">
                <a:latin typeface="Times New Roman" pitchFamily="18" charset="0"/>
                <a:cs typeface="Times New Roman" pitchFamily="18" charset="0"/>
              </a:rPr>
              <a:t>Web Server Support and Configuration</a:t>
            </a:r>
            <a:endParaRPr lang="en-US" sz="24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219200"/>
            <a:ext cx="8229600" cy="5257800"/>
          </a:xfrm>
        </p:spPr>
        <p:txBody>
          <a:bodyPr>
            <a:normAutofit/>
          </a:bodyPr>
          <a:lstStyle/>
          <a:p>
            <a:r>
              <a:rPr lang="en-US" sz="2800" dirty="0" smtClean="0">
                <a:latin typeface="Times New Roman" pitchFamily="18" charset="0"/>
                <a:cs typeface="Times New Roman" pitchFamily="18" charset="0"/>
              </a:rPr>
              <a:t>All the CGI Programs to be executed by the HTTP server are kept in a pre-configured directory</a:t>
            </a:r>
            <a:r>
              <a:rPr lang="en-US" sz="2800" dirty="0" smtClean="0">
                <a:latin typeface="Times New Roman" pitchFamily="18" charset="0"/>
                <a:cs typeface="Times New Roman" pitchFamily="18" charset="0"/>
              </a:rPr>
              <a:t>.</a:t>
            </a:r>
          </a:p>
          <a:p>
            <a:r>
              <a:rPr lang="en-US" sz="2800" dirty="0" smtClean="0">
                <a:latin typeface="Times New Roman" pitchFamily="18" charset="0"/>
                <a:cs typeface="Times New Roman" pitchFamily="18" charset="0"/>
              </a:rPr>
              <a:t> </a:t>
            </a:r>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This directory is called CGI Directory and by convention it is named as /</a:t>
            </a:r>
            <a:r>
              <a:rPr lang="en-US" sz="2800" dirty="0" err="1" smtClean="0">
                <a:latin typeface="Times New Roman" pitchFamily="18" charset="0"/>
                <a:cs typeface="Times New Roman" pitchFamily="18" charset="0"/>
              </a:rPr>
              <a:t>var</a:t>
            </a:r>
            <a:r>
              <a:rPr lang="en-US" sz="2800" dirty="0" smtClean="0">
                <a:latin typeface="Times New Roman" pitchFamily="18" charset="0"/>
                <a:cs typeface="Times New Roman" pitchFamily="18" charset="0"/>
              </a:rPr>
              <a:t>/www/</a:t>
            </a:r>
            <a:r>
              <a:rPr lang="en-US" sz="2800" dirty="0" err="1" smtClean="0">
                <a:latin typeface="Times New Roman" pitchFamily="18" charset="0"/>
                <a:cs typeface="Times New Roman" pitchFamily="18" charset="0"/>
              </a:rPr>
              <a:t>cgi</a:t>
            </a:r>
            <a:r>
              <a:rPr lang="en-US" sz="2800" dirty="0" smtClean="0">
                <a:latin typeface="Times New Roman" pitchFamily="18" charset="0"/>
                <a:cs typeface="Times New Roman" pitchFamily="18" charset="0"/>
              </a:rPr>
              <a:t>-bin</a:t>
            </a:r>
            <a:r>
              <a:rPr lang="en-US" sz="2800" dirty="0" smtClean="0">
                <a:latin typeface="Times New Roman" pitchFamily="18" charset="0"/>
                <a:cs typeface="Times New Roman" pitchFamily="18" charset="0"/>
              </a:rPr>
              <a:t>.</a:t>
            </a:r>
          </a:p>
          <a:p>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CGI files have extension as.cgi, but you can keep your files with python extension .</a:t>
            </a:r>
            <a:r>
              <a:rPr lang="en-US" sz="2800" dirty="0" err="1" smtClean="0">
                <a:latin typeface="Times New Roman" pitchFamily="18" charset="0"/>
                <a:cs typeface="Times New Roman" pitchFamily="18" charset="0"/>
              </a:rPr>
              <a:t>py</a:t>
            </a:r>
            <a:r>
              <a:rPr lang="en-US" sz="2800" dirty="0" smtClean="0">
                <a:latin typeface="Times New Roman" pitchFamily="18" charset="0"/>
                <a:cs typeface="Times New Roman" pitchFamily="18" charset="0"/>
              </a:rPr>
              <a:t> as well.  </a:t>
            </a:r>
            <a:endParaRPr lang="en-US" sz="28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686800" cy="6324600"/>
          </a:xfrm>
        </p:spPr>
        <p:txBody>
          <a:bodyPr>
            <a:normAutofit fontScale="85000" lnSpcReduction="10000"/>
          </a:bodyPr>
          <a:lstStyle/>
          <a:p>
            <a:r>
              <a:rPr lang="en-US" dirty="0" smtClean="0"/>
              <a:t>Default, the Linux server is configured to run only the scripts in the </a:t>
            </a:r>
            <a:r>
              <a:rPr lang="en-US" dirty="0" err="1" smtClean="0"/>
              <a:t>cgi</a:t>
            </a:r>
            <a:r>
              <a:rPr lang="en-US" dirty="0" smtClean="0"/>
              <a:t>-bin directory in /</a:t>
            </a:r>
            <a:r>
              <a:rPr lang="en-US" dirty="0" err="1" smtClean="0"/>
              <a:t>var</a:t>
            </a:r>
            <a:r>
              <a:rPr lang="en-US" dirty="0" smtClean="0"/>
              <a:t>/www. </a:t>
            </a:r>
          </a:p>
          <a:p>
            <a:r>
              <a:rPr lang="en-US" dirty="0" smtClean="0"/>
              <a:t>If you want to specify any other directory to run your CGI scripts, comment the following lines in the </a:t>
            </a:r>
            <a:r>
              <a:rPr lang="en-US" dirty="0" err="1" smtClean="0"/>
              <a:t>httpd.conf</a:t>
            </a:r>
            <a:r>
              <a:rPr lang="en-US" dirty="0" smtClean="0"/>
              <a:t> file: </a:t>
            </a:r>
          </a:p>
          <a:p>
            <a:endParaRPr lang="en-US" dirty="0" smtClean="0"/>
          </a:p>
          <a:p>
            <a:r>
              <a:rPr lang="en-US" dirty="0" smtClean="0"/>
              <a:t>&lt;Directory "/</a:t>
            </a:r>
            <a:r>
              <a:rPr lang="en-US" dirty="0" err="1" smtClean="0"/>
              <a:t>var</a:t>
            </a:r>
            <a:r>
              <a:rPr lang="en-US" dirty="0" smtClean="0"/>
              <a:t>/www/</a:t>
            </a:r>
            <a:r>
              <a:rPr lang="en-US" dirty="0" err="1" smtClean="0"/>
              <a:t>cgi</a:t>
            </a:r>
            <a:r>
              <a:rPr lang="en-US" dirty="0" smtClean="0"/>
              <a:t>-bin"&gt; </a:t>
            </a:r>
          </a:p>
          <a:p>
            <a:r>
              <a:rPr lang="en-US" dirty="0" err="1" smtClean="0"/>
              <a:t>AllowOverride</a:t>
            </a:r>
            <a:r>
              <a:rPr lang="en-US" dirty="0" smtClean="0"/>
              <a:t> None </a:t>
            </a:r>
          </a:p>
          <a:p>
            <a:r>
              <a:rPr lang="en-US" dirty="0" smtClean="0"/>
              <a:t>Options </a:t>
            </a:r>
            <a:r>
              <a:rPr lang="en-US" dirty="0" err="1" smtClean="0"/>
              <a:t>ExecCGI</a:t>
            </a:r>
            <a:r>
              <a:rPr lang="en-US" dirty="0" smtClean="0"/>
              <a:t> </a:t>
            </a:r>
          </a:p>
          <a:p>
            <a:r>
              <a:rPr lang="en-US" dirty="0" smtClean="0"/>
              <a:t>Order </a:t>
            </a:r>
            <a:r>
              <a:rPr lang="en-US" dirty="0" err="1" smtClean="0"/>
              <a:t>allow,deny</a:t>
            </a:r>
            <a:r>
              <a:rPr lang="en-US" dirty="0" smtClean="0"/>
              <a:t> </a:t>
            </a:r>
          </a:p>
          <a:p>
            <a:r>
              <a:rPr lang="en-US" dirty="0" smtClean="0"/>
              <a:t>Allow from all </a:t>
            </a:r>
          </a:p>
          <a:p>
            <a:r>
              <a:rPr lang="en-US" dirty="0" smtClean="0"/>
              <a:t>&lt;/Directory&gt; </a:t>
            </a:r>
          </a:p>
          <a:p>
            <a:r>
              <a:rPr lang="en-US" dirty="0" smtClean="0"/>
              <a:t>&lt;Directory "/</a:t>
            </a:r>
            <a:r>
              <a:rPr lang="en-US" dirty="0" err="1" smtClean="0"/>
              <a:t>var</a:t>
            </a:r>
            <a:r>
              <a:rPr lang="en-US" dirty="0" smtClean="0"/>
              <a:t>/www/</a:t>
            </a:r>
            <a:r>
              <a:rPr lang="en-US" dirty="0" err="1" smtClean="0"/>
              <a:t>cgi</a:t>
            </a:r>
            <a:r>
              <a:rPr lang="en-US" dirty="0" smtClean="0"/>
              <a:t>-bin"&gt; </a:t>
            </a:r>
          </a:p>
          <a:p>
            <a:r>
              <a:rPr lang="en-US" dirty="0" smtClean="0"/>
              <a:t>Options All </a:t>
            </a:r>
          </a:p>
          <a:p>
            <a:r>
              <a:rPr lang="en-US" dirty="0" smtClean="0"/>
              <a:t>&lt;/Directory&gt;</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152400"/>
            <a:ext cx="5867400" cy="533400"/>
          </a:xfrm>
        </p:spPr>
        <p:txBody>
          <a:bodyPr>
            <a:normAutofit/>
          </a:bodyPr>
          <a:lstStyle/>
          <a:p>
            <a:r>
              <a:rPr lang="en-US" sz="2400" b="1" dirty="0" smtClean="0">
                <a:latin typeface="Times New Roman" pitchFamily="18" charset="0"/>
                <a:cs typeface="Times New Roman" pitchFamily="18" charset="0"/>
              </a:rPr>
              <a:t>First CGI Program</a:t>
            </a:r>
            <a:endParaRPr lang="en-US" sz="24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838200"/>
            <a:ext cx="8229600" cy="5638800"/>
          </a:xfrm>
        </p:spPr>
        <p:txBody>
          <a:bodyPr>
            <a:normAutofit/>
          </a:bodyPr>
          <a:lstStyle/>
          <a:p>
            <a:r>
              <a:rPr lang="en-US" sz="2800" dirty="0" smtClean="0">
                <a:latin typeface="Times New Roman" pitchFamily="18" charset="0"/>
                <a:cs typeface="Times New Roman" pitchFamily="18" charset="0"/>
              </a:rPr>
              <a:t>print "Content-</a:t>
            </a:r>
            <a:r>
              <a:rPr lang="en-US" sz="2800" dirty="0" err="1" smtClean="0">
                <a:latin typeface="Times New Roman" pitchFamily="18" charset="0"/>
                <a:cs typeface="Times New Roman" pitchFamily="18" charset="0"/>
              </a:rPr>
              <a:t>type:text</a:t>
            </a:r>
            <a:r>
              <a:rPr lang="en-US" sz="2800" dirty="0" smtClean="0">
                <a:latin typeface="Times New Roman" pitchFamily="18" charset="0"/>
                <a:cs typeface="Times New Roman" pitchFamily="18" charset="0"/>
              </a:rPr>
              <a:t>/html\r\n\r\n" </a:t>
            </a:r>
          </a:p>
          <a:p>
            <a:r>
              <a:rPr lang="en-US" sz="2800" dirty="0" smtClean="0">
                <a:latin typeface="Times New Roman" pitchFamily="18" charset="0"/>
                <a:cs typeface="Times New Roman" pitchFamily="18" charset="0"/>
              </a:rPr>
              <a:t>print '&lt;html&gt;' </a:t>
            </a:r>
          </a:p>
          <a:p>
            <a:r>
              <a:rPr lang="en-US" sz="2800" dirty="0" smtClean="0">
                <a:latin typeface="Times New Roman" pitchFamily="18" charset="0"/>
                <a:cs typeface="Times New Roman" pitchFamily="18" charset="0"/>
              </a:rPr>
              <a:t>print '&lt;head&gt;' </a:t>
            </a:r>
          </a:p>
          <a:p>
            <a:r>
              <a:rPr lang="en-US" sz="2800" dirty="0" smtClean="0">
                <a:latin typeface="Times New Roman" pitchFamily="18" charset="0"/>
                <a:cs typeface="Times New Roman" pitchFamily="18" charset="0"/>
              </a:rPr>
              <a:t>print '&lt;title&gt;Hello Word - First CGI Program&lt;/title&gt;' </a:t>
            </a:r>
          </a:p>
          <a:p>
            <a:r>
              <a:rPr lang="en-US" sz="2800" dirty="0" smtClean="0">
                <a:latin typeface="Times New Roman" pitchFamily="18" charset="0"/>
                <a:cs typeface="Times New Roman" pitchFamily="18" charset="0"/>
              </a:rPr>
              <a:t>print '&lt;/head&gt;' </a:t>
            </a:r>
          </a:p>
          <a:p>
            <a:r>
              <a:rPr lang="en-US" sz="2800" dirty="0" smtClean="0">
                <a:latin typeface="Times New Roman" pitchFamily="18" charset="0"/>
                <a:cs typeface="Times New Roman" pitchFamily="18" charset="0"/>
              </a:rPr>
              <a:t>print '&lt;body&gt;' </a:t>
            </a:r>
          </a:p>
          <a:p>
            <a:r>
              <a:rPr lang="en-US" sz="2800" dirty="0" smtClean="0">
                <a:latin typeface="Times New Roman" pitchFamily="18" charset="0"/>
                <a:cs typeface="Times New Roman" pitchFamily="18" charset="0"/>
              </a:rPr>
              <a:t>print '&lt;h2&gt;Hello Word! This is my first CGI program&lt;/h2&gt;' </a:t>
            </a:r>
          </a:p>
          <a:p>
            <a:r>
              <a:rPr lang="en-US" sz="2800" dirty="0" smtClean="0">
                <a:latin typeface="Times New Roman" pitchFamily="18" charset="0"/>
                <a:cs typeface="Times New Roman" pitchFamily="18" charset="0"/>
              </a:rPr>
              <a:t>print '&lt;/body&gt;' </a:t>
            </a:r>
          </a:p>
          <a:p>
            <a:r>
              <a:rPr lang="en-US" sz="2800" dirty="0" smtClean="0">
                <a:latin typeface="Times New Roman" pitchFamily="18" charset="0"/>
                <a:cs typeface="Times New Roman" pitchFamily="18" charset="0"/>
              </a:rPr>
              <a:t>print '&lt;/html&gt;' </a:t>
            </a:r>
            <a:endParaRPr lang="en-US" sz="28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2200" y="152400"/>
            <a:ext cx="3962400" cy="685800"/>
          </a:xfrm>
        </p:spPr>
        <p:txBody>
          <a:bodyPr>
            <a:normAutofit/>
          </a:bodyPr>
          <a:lstStyle/>
          <a:p>
            <a:r>
              <a:rPr lang="en-US" sz="3200" dirty="0" smtClean="0">
                <a:latin typeface="Times New Roman" pitchFamily="18" charset="0"/>
                <a:cs typeface="Times New Roman" pitchFamily="18" charset="0"/>
              </a:rPr>
              <a:t>Output</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228600" y="1143000"/>
            <a:ext cx="8686800" cy="5410200"/>
          </a:xfrm>
        </p:spPr>
        <p:txBody>
          <a:bodyPr/>
          <a:lstStyle/>
          <a:p>
            <a:endParaRPr lang="en-US" b="1" dirty="0" smtClean="0">
              <a:latin typeface="Times New Roman" pitchFamily="18" charset="0"/>
              <a:cs typeface="Times New Roman" pitchFamily="18" charset="0"/>
            </a:endParaRPr>
          </a:p>
          <a:p>
            <a:r>
              <a:rPr lang="en-US" b="1" dirty="0" smtClean="0">
                <a:solidFill>
                  <a:srgbClr val="FF0000"/>
                </a:solidFill>
                <a:latin typeface="Times New Roman" pitchFamily="18" charset="0"/>
                <a:cs typeface="Times New Roman" pitchFamily="18" charset="0"/>
              </a:rPr>
              <a:t>Hello Word! This is my first CGI program</a:t>
            </a:r>
          </a:p>
          <a:p>
            <a:endParaRPr lang="en-US" b="1"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This hello.py script is a simple Python script, which writes its output on STDOUT file, i.e., screen. </a:t>
            </a:r>
          </a:p>
          <a:p>
            <a:r>
              <a:rPr lang="en-US" dirty="0" smtClean="0">
                <a:latin typeface="Times New Roman" pitchFamily="18" charset="0"/>
                <a:cs typeface="Times New Roman" pitchFamily="18" charset="0"/>
              </a:rPr>
              <a:t>There is one important and extra feature available which is first line to be printed </a:t>
            </a:r>
            <a:r>
              <a:rPr lang="en-US" b="1" dirty="0" smtClean="0">
                <a:latin typeface="Times New Roman" pitchFamily="18" charset="0"/>
                <a:cs typeface="Times New Roman" pitchFamily="18" charset="0"/>
              </a:rPr>
              <a:t>Content-</a:t>
            </a:r>
            <a:r>
              <a:rPr lang="en-US" b="1" dirty="0" err="1" smtClean="0">
                <a:latin typeface="Times New Roman" pitchFamily="18" charset="0"/>
                <a:cs typeface="Times New Roman" pitchFamily="18" charset="0"/>
              </a:rPr>
              <a:t>type:text</a:t>
            </a:r>
            <a:r>
              <a:rPr lang="en-US" b="1" dirty="0" smtClean="0">
                <a:latin typeface="Times New Roman" pitchFamily="18" charset="0"/>
                <a:cs typeface="Times New Roman" pitchFamily="18" charset="0"/>
              </a:rPr>
              <a:t>/html\r\n\r\n. </a:t>
            </a:r>
            <a:endParaRPr lang="en-US" dirty="0" smtClean="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52400"/>
            <a:ext cx="6553200" cy="685800"/>
          </a:xfrm>
        </p:spPr>
        <p:txBody>
          <a:bodyPr>
            <a:normAutofit/>
          </a:bodyPr>
          <a:lstStyle/>
          <a:p>
            <a:r>
              <a:rPr lang="en-US" sz="2800" b="1" dirty="0" smtClean="0">
                <a:latin typeface="Times New Roman" pitchFamily="18" charset="0"/>
                <a:cs typeface="Times New Roman" pitchFamily="18" charset="0"/>
              </a:rPr>
              <a:t>HTTP Header</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059363"/>
          </a:xfrm>
        </p:spPr>
        <p:txBody>
          <a:bodyPr/>
          <a:lstStyle/>
          <a:p>
            <a:r>
              <a:rPr lang="en-US" dirty="0" smtClean="0">
                <a:latin typeface="Times New Roman" pitchFamily="18" charset="0"/>
                <a:cs typeface="Times New Roman" pitchFamily="18" charset="0"/>
              </a:rPr>
              <a:t>The line Content-</a:t>
            </a:r>
            <a:r>
              <a:rPr lang="en-US" dirty="0" err="1" smtClean="0">
                <a:latin typeface="Times New Roman" pitchFamily="18" charset="0"/>
                <a:cs typeface="Times New Roman" pitchFamily="18" charset="0"/>
              </a:rPr>
              <a:t>type:text</a:t>
            </a:r>
            <a:r>
              <a:rPr lang="en-US" dirty="0" smtClean="0">
                <a:latin typeface="Times New Roman" pitchFamily="18" charset="0"/>
                <a:cs typeface="Times New Roman" pitchFamily="18" charset="0"/>
              </a:rPr>
              <a:t>/html\r\n\r\n is part of HTTP header which is sent to the browser to understand the content. </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HTTP Field Name: Field Content </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For Example </a:t>
            </a:r>
          </a:p>
          <a:p>
            <a:r>
              <a:rPr lang="en-US" dirty="0" smtClean="0">
                <a:latin typeface="Times New Roman" pitchFamily="18" charset="0"/>
                <a:cs typeface="Times New Roman" pitchFamily="18" charset="0"/>
              </a:rPr>
              <a:t>Content-type: text/html\r\n\r\n </a:t>
            </a:r>
            <a:endParaRPr lang="en-US"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152400"/>
            <a:ext cx="7162800" cy="609600"/>
          </a:xfrm>
        </p:spPr>
        <p:txBody>
          <a:bodyPr>
            <a:noAutofit/>
          </a:bodyPr>
          <a:lstStyle/>
          <a:p>
            <a:r>
              <a:rPr lang="en-US" sz="2800" b="1" dirty="0" smtClean="0">
                <a:latin typeface="Times New Roman" pitchFamily="18" charset="0"/>
                <a:cs typeface="Times New Roman" pitchFamily="18" charset="0"/>
              </a:rPr>
              <a:t>CGI Environment Variables </a:t>
            </a:r>
            <a:endParaRPr lang="en-US" sz="2800" dirty="0">
              <a:latin typeface="Times New Roman" pitchFamily="18" charset="0"/>
              <a:cs typeface="Times New Roman" pitchFamily="18" charset="0"/>
            </a:endParaRPr>
          </a:p>
        </p:txBody>
      </p:sp>
      <p:graphicFrame>
        <p:nvGraphicFramePr>
          <p:cNvPr id="6" name="Content Placeholder 5"/>
          <p:cNvGraphicFramePr>
            <a:graphicFrameLocks noGrp="1"/>
          </p:cNvGraphicFramePr>
          <p:nvPr>
            <p:ph idx="1"/>
          </p:nvPr>
        </p:nvGraphicFramePr>
        <p:xfrm>
          <a:off x="381000" y="1219200"/>
          <a:ext cx="8229600" cy="4145280"/>
        </p:xfrm>
        <a:graphic>
          <a:graphicData uri="http://schemas.openxmlformats.org/drawingml/2006/table">
            <a:tbl>
              <a:tblPr firstRow="1" bandRow="1">
                <a:tableStyleId>{5940675A-B579-460E-94D1-54222C63F5DA}</a:tableStyleId>
              </a:tblPr>
              <a:tblGrid>
                <a:gridCol w="4114800"/>
                <a:gridCol w="4114800"/>
              </a:tblGrid>
              <a:tr h="8077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kern="1200" baseline="0" dirty="0" smtClean="0">
                          <a:solidFill>
                            <a:schemeClr val="tx1"/>
                          </a:solidFill>
                          <a:latin typeface="Times New Roman" pitchFamily="18" charset="0"/>
                          <a:ea typeface="+mn-ea"/>
                          <a:cs typeface="Times New Roman" pitchFamily="18" charset="0"/>
                        </a:rPr>
                        <a:t>CONTENT_TYPE </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kern="1200" baseline="0" dirty="0" smtClean="0">
                          <a:solidFill>
                            <a:schemeClr val="tx1"/>
                          </a:solidFill>
                          <a:latin typeface="Times New Roman" pitchFamily="18" charset="0"/>
                          <a:ea typeface="+mn-ea"/>
                          <a:cs typeface="Times New Roman" pitchFamily="18" charset="0"/>
                        </a:rPr>
                        <a:t>The data type of the content. Used when the client is sending attached content to the server. 	</a:t>
                      </a:r>
                    </a:p>
                  </a:txBody>
                  <a:tcPr/>
                </a:tc>
              </a:tr>
              <a:tr h="8077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kern="1200" baseline="0" dirty="0" smtClean="0">
                          <a:solidFill>
                            <a:schemeClr val="tx1"/>
                          </a:solidFill>
                          <a:latin typeface="Times New Roman" pitchFamily="18" charset="0"/>
                          <a:ea typeface="+mn-ea"/>
                          <a:cs typeface="Times New Roman" pitchFamily="18" charset="0"/>
                        </a:rPr>
                        <a:t>HTTP_COOKIE 	</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kern="1200" baseline="0" dirty="0" smtClean="0">
                          <a:solidFill>
                            <a:schemeClr val="tx1"/>
                          </a:solidFill>
                          <a:latin typeface="Times New Roman" pitchFamily="18" charset="0"/>
                          <a:ea typeface="+mn-ea"/>
                          <a:cs typeface="Times New Roman" pitchFamily="18" charset="0"/>
                        </a:rPr>
                        <a:t>Returns the set cookies in the form of key &amp; value pair. 	</a:t>
                      </a:r>
                    </a:p>
                  </a:txBody>
                  <a:tcPr/>
                </a:tc>
              </a:tr>
              <a:tr h="8077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kern="1200" baseline="0" dirty="0" smtClean="0">
                          <a:solidFill>
                            <a:schemeClr val="tx1"/>
                          </a:solidFill>
                          <a:latin typeface="Times New Roman" pitchFamily="18" charset="0"/>
                          <a:ea typeface="+mn-ea"/>
                          <a:cs typeface="Times New Roman" pitchFamily="18" charset="0"/>
                        </a:rPr>
                        <a:t>PATH_INFO 	</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kern="1200" baseline="0" dirty="0" smtClean="0">
                          <a:solidFill>
                            <a:schemeClr val="tx1"/>
                          </a:solidFill>
                          <a:latin typeface="Times New Roman" pitchFamily="18" charset="0"/>
                          <a:ea typeface="+mn-ea"/>
                          <a:cs typeface="Times New Roman" pitchFamily="18" charset="0"/>
                        </a:rPr>
                        <a:t>The path for the CGI script. 	</a:t>
                      </a:r>
                    </a:p>
                  </a:txBody>
                  <a:tcPr/>
                </a:tc>
              </a:tr>
              <a:tr h="8077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kern="1200" baseline="0" dirty="0" smtClean="0">
                          <a:solidFill>
                            <a:schemeClr val="tx1"/>
                          </a:solidFill>
                          <a:latin typeface="Times New Roman" pitchFamily="18" charset="0"/>
                          <a:ea typeface="+mn-ea"/>
                          <a:cs typeface="Times New Roman" pitchFamily="18" charset="0"/>
                        </a:rPr>
                        <a:t>SCRIPT_FILENAME 	</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kern="1200" baseline="0" dirty="0" smtClean="0">
                          <a:solidFill>
                            <a:schemeClr val="tx1"/>
                          </a:solidFill>
                          <a:latin typeface="Times New Roman" pitchFamily="18" charset="0"/>
                          <a:ea typeface="+mn-ea"/>
                          <a:cs typeface="Times New Roman" pitchFamily="18" charset="0"/>
                        </a:rPr>
                        <a:t>The full path to the CGI script. 	</a:t>
                      </a:r>
                    </a:p>
                  </a:txBody>
                  <a:tcPr/>
                </a:tc>
              </a:tr>
              <a:tr h="8077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kern="1200" baseline="0" dirty="0" smtClean="0">
                          <a:solidFill>
                            <a:schemeClr val="tx1"/>
                          </a:solidFill>
                          <a:latin typeface="Times New Roman" pitchFamily="18" charset="0"/>
                          <a:ea typeface="+mn-ea"/>
                          <a:cs typeface="Times New Roman" pitchFamily="18" charset="0"/>
                        </a:rPr>
                        <a:t>SERVER_NAME 	</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kern="1200" baseline="0" dirty="0" smtClean="0">
                          <a:solidFill>
                            <a:schemeClr val="tx1"/>
                          </a:solidFill>
                          <a:latin typeface="Times New Roman" pitchFamily="18" charset="0"/>
                          <a:ea typeface="+mn-ea"/>
                          <a:cs typeface="Times New Roman" pitchFamily="18" charset="0"/>
                        </a:rPr>
                        <a:t>The server's hostname or IP Address 	</a:t>
                      </a:r>
                    </a:p>
                  </a:txBody>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0" y="152400"/>
            <a:ext cx="5105400" cy="533400"/>
          </a:xfrm>
        </p:spPr>
        <p:txBody>
          <a:bodyPr>
            <a:normAutofit/>
          </a:bodyPr>
          <a:lstStyle/>
          <a:p>
            <a:r>
              <a:rPr lang="en-US" sz="2800" b="1" dirty="0" smtClean="0">
                <a:latin typeface="Times New Roman" pitchFamily="18" charset="0"/>
                <a:cs typeface="Times New Roman" pitchFamily="18" charset="0"/>
              </a:rPr>
              <a:t>GET and POST Methods</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304800" y="762000"/>
            <a:ext cx="8534400" cy="5867400"/>
          </a:xfrm>
        </p:spPr>
        <p:txBody>
          <a:bodyPr/>
          <a:lstStyle/>
          <a:p>
            <a:r>
              <a:rPr lang="en-US" dirty="0" smtClean="0">
                <a:latin typeface="Times New Roman" pitchFamily="18" charset="0"/>
                <a:cs typeface="Times New Roman" pitchFamily="18" charset="0"/>
              </a:rPr>
              <a:t>Most frequently, browser uses two methods two pass this information to web server. </a:t>
            </a:r>
          </a:p>
          <a:p>
            <a:r>
              <a:rPr lang="en-US" dirty="0" smtClean="0">
                <a:latin typeface="Times New Roman" pitchFamily="18" charset="0"/>
                <a:cs typeface="Times New Roman" pitchFamily="18" charset="0"/>
              </a:rPr>
              <a:t>These methods are GET Method and POST Method. </a:t>
            </a:r>
          </a:p>
          <a:p>
            <a:endParaRPr lang="en-US" dirty="0" smtClean="0">
              <a:latin typeface="Times New Roman" pitchFamily="18" charset="0"/>
              <a:cs typeface="Times New Roman" pitchFamily="18" charset="0"/>
            </a:endParaRPr>
          </a:p>
          <a:p>
            <a:r>
              <a:rPr lang="en-US" b="1" dirty="0" smtClean="0">
                <a:solidFill>
                  <a:srgbClr val="FF0000"/>
                </a:solidFill>
                <a:latin typeface="Times New Roman" pitchFamily="18" charset="0"/>
                <a:cs typeface="Times New Roman" pitchFamily="18" charset="0"/>
              </a:rPr>
              <a:t>Passing Information using GET method: </a:t>
            </a:r>
          </a:p>
          <a:p>
            <a:endParaRPr lang="en-US" b="1"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http://www.test.com/cgi-bin/hello.py?key1=value1&amp;key2=value2 </a:t>
            </a:r>
            <a:endParaRPr lang="en-US"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152400"/>
            <a:ext cx="5029200" cy="457200"/>
          </a:xfrm>
        </p:spPr>
        <p:txBody>
          <a:bodyPr>
            <a:normAutofit fontScale="90000"/>
          </a:bodyPr>
          <a:lstStyle/>
          <a:p>
            <a:r>
              <a:rPr lang="en-US" sz="2800" b="1" dirty="0" smtClean="0">
                <a:solidFill>
                  <a:srgbClr val="FF0000"/>
                </a:solidFill>
                <a:latin typeface="Times New Roman" pitchFamily="18" charset="0"/>
                <a:cs typeface="Times New Roman" pitchFamily="18" charset="0"/>
              </a:rPr>
              <a:t>Get Method</a:t>
            </a:r>
            <a:endParaRPr lang="en-US" sz="28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304800" y="914400"/>
            <a:ext cx="8686800" cy="5486400"/>
          </a:xfrm>
        </p:spPr>
        <p:txBody>
          <a:bodyPr>
            <a:normAutofit fontScale="62500" lnSpcReduction="20000"/>
          </a:bodyPr>
          <a:lstStyle/>
          <a:p>
            <a:pPr>
              <a:buNone/>
            </a:pPr>
            <a:r>
              <a:rPr lang="en-US" sz="2800" dirty="0" err="1" smtClean="0">
                <a:solidFill>
                  <a:srgbClr val="92D050"/>
                </a:solidFill>
              </a:rPr>
              <a:t>cgi</a:t>
            </a:r>
            <a:r>
              <a:rPr lang="en-US" sz="2800" dirty="0" smtClean="0">
                <a:solidFill>
                  <a:srgbClr val="92D050"/>
                </a:solidFill>
              </a:rPr>
              <a:t>-bin/</a:t>
            </a:r>
            <a:r>
              <a:rPr lang="en-US" sz="2800" dirty="0" err="1" smtClean="0">
                <a:solidFill>
                  <a:srgbClr val="92D050"/>
                </a:solidFill>
              </a:rPr>
              <a:t>hello_get.py?first_name</a:t>
            </a:r>
            <a:r>
              <a:rPr lang="en-US" sz="2800" dirty="0" smtClean="0">
                <a:solidFill>
                  <a:srgbClr val="92D050"/>
                </a:solidFill>
              </a:rPr>
              <a:t>=</a:t>
            </a:r>
            <a:r>
              <a:rPr lang="en-US" sz="2800" dirty="0" err="1" smtClean="0">
                <a:solidFill>
                  <a:srgbClr val="92D050"/>
                </a:solidFill>
              </a:rPr>
              <a:t>ZARA&amp;last_name</a:t>
            </a:r>
            <a:r>
              <a:rPr lang="en-US" sz="2800" dirty="0" smtClean="0">
                <a:solidFill>
                  <a:srgbClr val="92D050"/>
                </a:solidFill>
              </a:rPr>
              <a:t>=ALI</a:t>
            </a:r>
          </a:p>
          <a:p>
            <a:pPr>
              <a:buNone/>
            </a:pPr>
            <a:endParaRPr lang="en-US" sz="2800" dirty="0" smtClean="0"/>
          </a:p>
          <a:p>
            <a:pPr>
              <a:buNone/>
            </a:pPr>
            <a:r>
              <a:rPr lang="en-US" sz="2800" dirty="0" smtClean="0">
                <a:latin typeface="Times New Roman" pitchFamily="18" charset="0"/>
                <a:cs typeface="Times New Roman" pitchFamily="18" charset="0"/>
              </a:rPr>
              <a:t>Program</a:t>
            </a:r>
          </a:p>
          <a:p>
            <a:r>
              <a:rPr lang="en-US" sz="2800" dirty="0" smtClean="0">
                <a:latin typeface="Times New Roman" pitchFamily="18" charset="0"/>
                <a:cs typeface="Times New Roman" pitchFamily="18" charset="0"/>
              </a:rPr>
              <a:t>#!/</a:t>
            </a:r>
            <a:r>
              <a:rPr lang="en-US" sz="2800" dirty="0" err="1" smtClean="0">
                <a:latin typeface="Times New Roman" pitchFamily="18" charset="0"/>
                <a:cs typeface="Times New Roman" pitchFamily="18" charset="0"/>
              </a:rPr>
              <a:t>usr</a:t>
            </a:r>
            <a:r>
              <a:rPr lang="en-US" sz="2800" dirty="0" smtClean="0">
                <a:latin typeface="Times New Roman" pitchFamily="18" charset="0"/>
                <a:cs typeface="Times New Roman" pitchFamily="18" charset="0"/>
              </a:rPr>
              <a:t>/bin/python </a:t>
            </a:r>
          </a:p>
          <a:p>
            <a:r>
              <a:rPr lang="en-US" sz="2800" dirty="0" smtClean="0">
                <a:latin typeface="Times New Roman" pitchFamily="18" charset="0"/>
                <a:cs typeface="Times New Roman" pitchFamily="18" charset="0"/>
              </a:rPr>
              <a:t># Import modules for CGI handling </a:t>
            </a:r>
          </a:p>
          <a:p>
            <a:r>
              <a:rPr lang="en-US" sz="2800" dirty="0" smtClean="0">
                <a:latin typeface="Times New Roman" pitchFamily="18" charset="0"/>
                <a:cs typeface="Times New Roman" pitchFamily="18" charset="0"/>
              </a:rPr>
              <a:t>import </a:t>
            </a:r>
            <a:r>
              <a:rPr lang="en-US" sz="2800" dirty="0" err="1" smtClean="0">
                <a:latin typeface="Times New Roman" pitchFamily="18" charset="0"/>
                <a:cs typeface="Times New Roman" pitchFamily="18" charset="0"/>
              </a:rPr>
              <a:t>cgi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cgitb</a:t>
            </a:r>
            <a:r>
              <a:rPr lang="en-US" sz="2800" dirty="0" smtClean="0">
                <a:latin typeface="Times New Roman" pitchFamily="18" charset="0"/>
                <a:cs typeface="Times New Roman" pitchFamily="18" charset="0"/>
              </a:rPr>
              <a:t> </a:t>
            </a:r>
          </a:p>
          <a:p>
            <a:r>
              <a:rPr lang="en-US" sz="2800" dirty="0" smtClean="0">
                <a:latin typeface="Times New Roman" pitchFamily="18" charset="0"/>
                <a:cs typeface="Times New Roman" pitchFamily="18" charset="0"/>
              </a:rPr>
              <a:t># Create instance of </a:t>
            </a:r>
            <a:r>
              <a:rPr lang="en-US" sz="2800" dirty="0" err="1" smtClean="0">
                <a:latin typeface="Times New Roman" pitchFamily="18" charset="0"/>
                <a:cs typeface="Times New Roman" pitchFamily="18" charset="0"/>
              </a:rPr>
              <a:t>FieldStorage</a:t>
            </a:r>
            <a:r>
              <a:rPr lang="en-US" sz="2800" dirty="0" smtClean="0">
                <a:latin typeface="Times New Roman" pitchFamily="18" charset="0"/>
                <a:cs typeface="Times New Roman" pitchFamily="18" charset="0"/>
              </a:rPr>
              <a:t> </a:t>
            </a:r>
          </a:p>
          <a:p>
            <a:r>
              <a:rPr lang="en-US" sz="2800" dirty="0" smtClean="0">
                <a:latin typeface="Times New Roman" pitchFamily="18" charset="0"/>
                <a:cs typeface="Times New Roman" pitchFamily="18" charset="0"/>
              </a:rPr>
              <a:t>form = </a:t>
            </a:r>
            <a:r>
              <a:rPr lang="en-US" sz="2800" dirty="0" err="1" smtClean="0">
                <a:latin typeface="Times New Roman" pitchFamily="18" charset="0"/>
                <a:cs typeface="Times New Roman" pitchFamily="18" charset="0"/>
              </a:rPr>
              <a:t>cgi.FieldStorage</a:t>
            </a:r>
            <a:r>
              <a:rPr lang="en-US" sz="2800" dirty="0" smtClean="0">
                <a:latin typeface="Times New Roman" pitchFamily="18" charset="0"/>
                <a:cs typeface="Times New Roman" pitchFamily="18" charset="0"/>
              </a:rPr>
              <a:t>() </a:t>
            </a:r>
          </a:p>
          <a:p>
            <a:r>
              <a:rPr lang="en-US" sz="2800" dirty="0" smtClean="0">
                <a:latin typeface="Times New Roman" pitchFamily="18" charset="0"/>
                <a:cs typeface="Times New Roman" pitchFamily="18" charset="0"/>
              </a:rPr>
              <a:t># Get data from fields </a:t>
            </a:r>
          </a:p>
          <a:p>
            <a:r>
              <a:rPr lang="en-US" sz="2800" dirty="0" err="1" smtClean="0">
                <a:latin typeface="Times New Roman" pitchFamily="18" charset="0"/>
                <a:cs typeface="Times New Roman" pitchFamily="18" charset="0"/>
              </a:rPr>
              <a:t>first_name</a:t>
            </a:r>
            <a:r>
              <a:rPr lang="en-US" sz="2800" dirty="0" smtClean="0">
                <a:latin typeface="Times New Roman" pitchFamily="18" charset="0"/>
                <a:cs typeface="Times New Roman" pitchFamily="18" charset="0"/>
              </a:rPr>
              <a:t> = </a:t>
            </a:r>
            <a:r>
              <a:rPr lang="en-US" sz="2800" dirty="0" err="1" smtClean="0">
                <a:latin typeface="Times New Roman" pitchFamily="18" charset="0"/>
                <a:cs typeface="Times New Roman" pitchFamily="18" charset="0"/>
              </a:rPr>
              <a:t>form.getvalue</a:t>
            </a:r>
            <a:r>
              <a:rPr lang="en-US" sz="2800" dirty="0" smtClean="0">
                <a:latin typeface="Times New Roman" pitchFamily="18" charset="0"/>
                <a:cs typeface="Times New Roman" pitchFamily="18" charset="0"/>
              </a:rPr>
              <a:t>('</a:t>
            </a:r>
            <a:r>
              <a:rPr lang="en-US" sz="2800" dirty="0" err="1" smtClean="0">
                <a:latin typeface="Times New Roman" pitchFamily="18" charset="0"/>
                <a:cs typeface="Times New Roman" pitchFamily="18" charset="0"/>
              </a:rPr>
              <a:t>first_name</a:t>
            </a:r>
            <a:r>
              <a:rPr lang="en-US" sz="2800" dirty="0" smtClean="0">
                <a:latin typeface="Times New Roman" pitchFamily="18" charset="0"/>
                <a:cs typeface="Times New Roman" pitchFamily="18" charset="0"/>
              </a:rPr>
              <a:t>') </a:t>
            </a:r>
          </a:p>
          <a:p>
            <a:r>
              <a:rPr lang="en-US" sz="2800" dirty="0" err="1" smtClean="0">
                <a:latin typeface="Times New Roman" pitchFamily="18" charset="0"/>
                <a:cs typeface="Times New Roman" pitchFamily="18" charset="0"/>
              </a:rPr>
              <a:t>last_name</a:t>
            </a:r>
            <a:r>
              <a:rPr lang="en-US" sz="2800" dirty="0" smtClean="0">
                <a:latin typeface="Times New Roman" pitchFamily="18" charset="0"/>
                <a:cs typeface="Times New Roman" pitchFamily="18" charset="0"/>
              </a:rPr>
              <a:t> = </a:t>
            </a:r>
            <a:r>
              <a:rPr lang="en-US" sz="2800" dirty="0" err="1" smtClean="0">
                <a:latin typeface="Times New Roman" pitchFamily="18" charset="0"/>
                <a:cs typeface="Times New Roman" pitchFamily="18" charset="0"/>
              </a:rPr>
              <a:t>form.getvalue</a:t>
            </a:r>
            <a:r>
              <a:rPr lang="en-US" sz="2800" dirty="0" smtClean="0">
                <a:latin typeface="Times New Roman" pitchFamily="18" charset="0"/>
                <a:cs typeface="Times New Roman" pitchFamily="18" charset="0"/>
              </a:rPr>
              <a:t>('</a:t>
            </a:r>
            <a:r>
              <a:rPr lang="en-US" sz="2800" dirty="0" err="1" smtClean="0">
                <a:latin typeface="Times New Roman" pitchFamily="18" charset="0"/>
                <a:cs typeface="Times New Roman" pitchFamily="18" charset="0"/>
              </a:rPr>
              <a:t>last_name</a:t>
            </a:r>
            <a:r>
              <a:rPr lang="en-US" sz="2800" dirty="0" smtClean="0">
                <a:latin typeface="Times New Roman" pitchFamily="18" charset="0"/>
                <a:cs typeface="Times New Roman" pitchFamily="18" charset="0"/>
              </a:rPr>
              <a:t>') </a:t>
            </a:r>
          </a:p>
          <a:p>
            <a:r>
              <a:rPr lang="en-US" sz="2800" dirty="0" smtClean="0">
                <a:latin typeface="Times New Roman" pitchFamily="18" charset="0"/>
                <a:cs typeface="Times New Roman" pitchFamily="18" charset="0"/>
              </a:rPr>
              <a:t>print "Content-</a:t>
            </a:r>
            <a:r>
              <a:rPr lang="en-US" sz="2800" dirty="0" err="1" smtClean="0">
                <a:latin typeface="Times New Roman" pitchFamily="18" charset="0"/>
                <a:cs typeface="Times New Roman" pitchFamily="18" charset="0"/>
              </a:rPr>
              <a:t>type:text</a:t>
            </a:r>
            <a:r>
              <a:rPr lang="en-US" sz="2800" dirty="0" smtClean="0">
                <a:latin typeface="Times New Roman" pitchFamily="18" charset="0"/>
                <a:cs typeface="Times New Roman" pitchFamily="18" charset="0"/>
              </a:rPr>
              <a:t>/html\r\n\r\n" </a:t>
            </a:r>
          </a:p>
          <a:p>
            <a:r>
              <a:rPr lang="en-US" sz="2800" dirty="0" smtClean="0">
                <a:latin typeface="Times New Roman" pitchFamily="18" charset="0"/>
                <a:cs typeface="Times New Roman" pitchFamily="18" charset="0"/>
              </a:rPr>
              <a:t>print "&lt;html&gt;" </a:t>
            </a:r>
          </a:p>
          <a:p>
            <a:r>
              <a:rPr lang="en-US" sz="2800" dirty="0" smtClean="0">
                <a:latin typeface="Times New Roman" pitchFamily="18" charset="0"/>
                <a:cs typeface="Times New Roman" pitchFamily="18" charset="0"/>
              </a:rPr>
              <a:t>print "&lt;head&gt;" </a:t>
            </a:r>
          </a:p>
          <a:p>
            <a:r>
              <a:rPr lang="en-US" sz="2400" dirty="0" smtClean="0">
                <a:latin typeface="Times New Roman" pitchFamily="18" charset="0"/>
                <a:cs typeface="Times New Roman" pitchFamily="18" charset="0"/>
              </a:rPr>
              <a:t>print "&lt;title&gt;Hello - Second CGI Program&lt;/title&gt;" </a:t>
            </a:r>
          </a:p>
          <a:p>
            <a:r>
              <a:rPr lang="en-US" sz="2400" dirty="0" smtClean="0">
                <a:latin typeface="Times New Roman" pitchFamily="18" charset="0"/>
                <a:cs typeface="Times New Roman" pitchFamily="18" charset="0"/>
              </a:rPr>
              <a:t>print "&lt;/head&gt;" </a:t>
            </a:r>
          </a:p>
          <a:p>
            <a:r>
              <a:rPr lang="en-US" sz="2400" dirty="0" smtClean="0">
                <a:latin typeface="Times New Roman" pitchFamily="18" charset="0"/>
                <a:cs typeface="Times New Roman" pitchFamily="18" charset="0"/>
              </a:rPr>
              <a:t>print "&lt;body&gt;" </a:t>
            </a:r>
          </a:p>
          <a:p>
            <a:r>
              <a:rPr lang="en-US" sz="2400" dirty="0" smtClean="0">
                <a:latin typeface="Times New Roman" pitchFamily="18" charset="0"/>
                <a:cs typeface="Times New Roman" pitchFamily="18" charset="0"/>
              </a:rPr>
              <a:t>print "&lt;h2&gt;Hello %s %s&lt;/h2&gt;" % (</a:t>
            </a:r>
            <a:r>
              <a:rPr lang="en-US" sz="2400" dirty="0" err="1" smtClean="0">
                <a:latin typeface="Times New Roman" pitchFamily="18" charset="0"/>
                <a:cs typeface="Times New Roman" pitchFamily="18" charset="0"/>
              </a:rPr>
              <a:t>first_name</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last_name</a:t>
            </a:r>
            <a:r>
              <a:rPr lang="en-US" sz="2400" dirty="0" smtClean="0">
                <a:latin typeface="Times New Roman" pitchFamily="18" charset="0"/>
                <a:cs typeface="Times New Roman" pitchFamily="18" charset="0"/>
              </a:rPr>
              <a:t>) </a:t>
            </a:r>
          </a:p>
          <a:p>
            <a:r>
              <a:rPr lang="en-US" sz="2400" dirty="0" smtClean="0">
                <a:latin typeface="Times New Roman" pitchFamily="18" charset="0"/>
                <a:cs typeface="Times New Roman" pitchFamily="18" charset="0"/>
              </a:rPr>
              <a:t>print "&lt;/body&gt;" </a:t>
            </a:r>
          </a:p>
          <a:p>
            <a:r>
              <a:rPr lang="en-US" sz="2400" dirty="0" smtClean="0">
                <a:latin typeface="Times New Roman" pitchFamily="18" charset="0"/>
                <a:cs typeface="Times New Roman" pitchFamily="18" charset="0"/>
              </a:rPr>
              <a:t>print "&lt;/html&gt;" </a:t>
            </a:r>
            <a:r>
              <a:rPr lang="en-US" sz="2800" dirty="0" smtClean="0">
                <a:latin typeface="Times New Roman" pitchFamily="18" charset="0"/>
                <a:cs typeface="Times New Roman" pitchFamily="18" charset="0"/>
              </a:rPr>
              <a:t> </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Output</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2514600" y="2362200"/>
            <a:ext cx="3124200" cy="1981200"/>
          </a:xfrm>
        </p:spPr>
        <p:txBody>
          <a:bodyPr/>
          <a:lstStyle/>
          <a:p>
            <a:r>
              <a:rPr lang="en-US" b="1" dirty="0" smtClean="0"/>
              <a:t>Hello ZARA ALI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152400"/>
            <a:ext cx="7010400" cy="609600"/>
          </a:xfrm>
        </p:spPr>
        <p:txBody>
          <a:bodyPr>
            <a:normAutofit/>
          </a:bodyPr>
          <a:lstStyle/>
          <a:p>
            <a:r>
              <a:rPr lang="en-US" sz="2400" b="1" dirty="0" smtClean="0">
                <a:latin typeface="Times New Roman" pitchFamily="18" charset="0"/>
                <a:cs typeface="Times New Roman" pitchFamily="18" charset="0"/>
              </a:rPr>
              <a:t>Simple FORM Example: GET Method </a:t>
            </a:r>
            <a:endParaRPr lang="en-US" sz="24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5334000"/>
          </a:xfrm>
        </p:spPr>
        <p:txBody>
          <a:bodyPr>
            <a:normAutofit fontScale="85000" lnSpcReduction="10000"/>
          </a:bodyPr>
          <a:lstStyle/>
          <a:p>
            <a:r>
              <a:rPr lang="en-US" dirty="0" smtClean="0">
                <a:latin typeface="Times New Roman" pitchFamily="18" charset="0"/>
                <a:cs typeface="Times New Roman" pitchFamily="18" charset="0"/>
              </a:rPr>
              <a:t>Example passes two values using HTML FORM and submit button. We use same CGI script hello_get.py to handle this </a:t>
            </a:r>
            <a:r>
              <a:rPr lang="en-US" dirty="0" err="1" smtClean="0">
                <a:latin typeface="Times New Roman" pitchFamily="18" charset="0"/>
                <a:cs typeface="Times New Roman" pitchFamily="18" charset="0"/>
              </a:rPr>
              <a:t>imput</a:t>
            </a:r>
            <a:r>
              <a:rPr lang="en-US" dirty="0" smtClean="0">
                <a:latin typeface="Times New Roman" pitchFamily="18" charset="0"/>
                <a:cs typeface="Times New Roman" pitchFamily="18" charset="0"/>
              </a:rPr>
              <a:t>. </a:t>
            </a:r>
          </a:p>
          <a:p>
            <a:endParaRPr lang="en-US" dirty="0" smtClean="0">
              <a:latin typeface="Times New Roman" pitchFamily="18" charset="0"/>
              <a:cs typeface="Times New Roman" pitchFamily="18" charset="0"/>
            </a:endParaRPr>
          </a:p>
          <a:p>
            <a:r>
              <a:rPr lang="en-US" dirty="0" smtClean="0">
                <a:solidFill>
                  <a:srgbClr val="FF0000"/>
                </a:solidFill>
                <a:latin typeface="Times New Roman" pitchFamily="18" charset="0"/>
                <a:cs typeface="Times New Roman" pitchFamily="18" charset="0"/>
              </a:rPr>
              <a:t>Program</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&lt;form action="/</a:t>
            </a:r>
            <a:r>
              <a:rPr lang="en-US" dirty="0" err="1" smtClean="0">
                <a:latin typeface="Times New Roman" pitchFamily="18" charset="0"/>
                <a:cs typeface="Times New Roman" pitchFamily="18" charset="0"/>
              </a:rPr>
              <a:t>cgi</a:t>
            </a:r>
            <a:r>
              <a:rPr lang="en-US" dirty="0" smtClean="0">
                <a:latin typeface="Times New Roman" pitchFamily="18" charset="0"/>
                <a:cs typeface="Times New Roman" pitchFamily="18" charset="0"/>
              </a:rPr>
              <a:t>-bin/hello_get.py" method="get"&gt; </a:t>
            </a:r>
          </a:p>
          <a:p>
            <a:r>
              <a:rPr lang="en-US" dirty="0" smtClean="0">
                <a:latin typeface="Times New Roman" pitchFamily="18" charset="0"/>
                <a:cs typeface="Times New Roman" pitchFamily="18" charset="0"/>
              </a:rPr>
              <a:t>First Name: &lt;input type="text" name="</a:t>
            </a:r>
            <a:r>
              <a:rPr lang="en-US" dirty="0" err="1" smtClean="0">
                <a:latin typeface="Times New Roman" pitchFamily="18" charset="0"/>
                <a:cs typeface="Times New Roman" pitchFamily="18" charset="0"/>
              </a:rPr>
              <a:t>first_name</a:t>
            </a:r>
            <a:r>
              <a:rPr lang="en-US" dirty="0" smtClean="0">
                <a:latin typeface="Times New Roman" pitchFamily="18" charset="0"/>
                <a:cs typeface="Times New Roman" pitchFamily="18" charset="0"/>
              </a:rPr>
              <a:t>"&gt; &lt;</a:t>
            </a:r>
            <a:r>
              <a:rPr lang="en-US" dirty="0" err="1" smtClean="0">
                <a:latin typeface="Times New Roman" pitchFamily="18" charset="0"/>
                <a:cs typeface="Times New Roman" pitchFamily="18" charset="0"/>
              </a:rPr>
              <a:t>br</a:t>
            </a:r>
            <a:r>
              <a:rPr lang="en-US" dirty="0" smtClean="0">
                <a:latin typeface="Times New Roman" pitchFamily="18" charset="0"/>
                <a:cs typeface="Times New Roman" pitchFamily="18" charset="0"/>
              </a:rPr>
              <a:t> /&gt; </a:t>
            </a:r>
          </a:p>
          <a:p>
            <a:r>
              <a:rPr lang="en-US" dirty="0" smtClean="0">
                <a:latin typeface="Times New Roman" pitchFamily="18" charset="0"/>
                <a:cs typeface="Times New Roman" pitchFamily="18" charset="0"/>
              </a:rPr>
              <a:t>Last Name: &lt;input type="text" name="</a:t>
            </a:r>
            <a:r>
              <a:rPr lang="en-US" dirty="0" err="1" smtClean="0">
                <a:latin typeface="Times New Roman" pitchFamily="18" charset="0"/>
                <a:cs typeface="Times New Roman" pitchFamily="18" charset="0"/>
              </a:rPr>
              <a:t>last_name</a:t>
            </a:r>
            <a:r>
              <a:rPr lang="en-US" dirty="0" smtClean="0">
                <a:latin typeface="Times New Roman" pitchFamily="18" charset="0"/>
                <a:cs typeface="Times New Roman" pitchFamily="18" charset="0"/>
              </a:rPr>
              <a:t>" /&gt; </a:t>
            </a:r>
          </a:p>
          <a:p>
            <a:r>
              <a:rPr lang="en-US" dirty="0" smtClean="0">
                <a:latin typeface="Times New Roman" pitchFamily="18" charset="0"/>
                <a:cs typeface="Times New Roman" pitchFamily="18" charset="0"/>
              </a:rPr>
              <a:t>&lt;input type="submit" value="Submit" /&gt; </a:t>
            </a:r>
          </a:p>
          <a:p>
            <a:r>
              <a:rPr lang="en-US" dirty="0" smtClean="0">
                <a:latin typeface="Times New Roman" pitchFamily="18" charset="0"/>
                <a:cs typeface="Times New Roman" pitchFamily="18" charset="0"/>
              </a:rPr>
              <a:t>&lt;/form&gt; </a:t>
            </a:r>
            <a:endParaRPr lang="en-US" dirty="0">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Output</a:t>
            </a:r>
            <a:endParaRPr lang="en-US" dirty="0">
              <a:latin typeface="Times New Roman" pitchFamily="18" charset="0"/>
              <a:cs typeface="Times New Roman" pitchFamily="18" charset="0"/>
            </a:endParaRPr>
          </a:p>
        </p:txBody>
      </p:sp>
      <p:pic>
        <p:nvPicPr>
          <p:cNvPr id="2050" name="Picture 2" descr="D:\Softwares\Script\Python\Pic1.jpg"/>
          <p:cNvPicPr>
            <a:picLocks noChangeAspect="1" noChangeArrowheads="1"/>
          </p:cNvPicPr>
          <p:nvPr/>
        </p:nvPicPr>
        <p:blipFill>
          <a:blip r:embed="rId2"/>
          <a:srcRect/>
          <a:stretch>
            <a:fillRect/>
          </a:stretch>
        </p:blipFill>
        <p:spPr bwMode="auto">
          <a:xfrm>
            <a:off x="1219200" y="2286001"/>
            <a:ext cx="7010400" cy="259080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a:bodyPr>
          <a:lstStyle/>
          <a:p>
            <a:r>
              <a:rPr lang="en-US" sz="2000" b="1" dirty="0" smtClean="0">
                <a:latin typeface="Times New Roman" pitchFamily="18" charset="0"/>
                <a:cs typeface="Times New Roman" pitchFamily="18" charset="0"/>
              </a:rPr>
              <a:t>Passing Checkbox Data to CGI </a:t>
            </a:r>
            <a:r>
              <a:rPr lang="en-US" sz="2000" b="1" dirty="0" smtClean="0">
                <a:latin typeface="Times New Roman" pitchFamily="18" charset="0"/>
                <a:cs typeface="Times New Roman" pitchFamily="18" charset="0"/>
              </a:rPr>
              <a:t>Program</a:t>
            </a:r>
            <a:endParaRPr lang="en-US" sz="2000" dirty="0">
              <a:latin typeface="Times New Roman" pitchFamily="18" charset="0"/>
              <a:cs typeface="Times New Roman" pitchFamily="18" charset="0"/>
            </a:endParaRPr>
          </a:p>
        </p:txBody>
      </p:sp>
      <p:sp>
        <p:nvSpPr>
          <p:cNvPr id="3" name="Content Placeholder 2"/>
          <p:cNvSpPr>
            <a:spLocks noGrp="1"/>
          </p:cNvSpPr>
          <p:nvPr>
            <p:ph idx="1"/>
          </p:nvPr>
        </p:nvSpPr>
        <p:spPr>
          <a:xfrm>
            <a:off x="304800" y="914400"/>
            <a:ext cx="8610600" cy="5791200"/>
          </a:xfrm>
        </p:spPr>
        <p:txBody>
          <a:bodyPr>
            <a:normAutofit/>
          </a:bodyPr>
          <a:lstStyle/>
          <a:p>
            <a:r>
              <a:rPr lang="en-US" sz="2800" dirty="0" smtClean="0">
                <a:solidFill>
                  <a:srgbClr val="FF0000"/>
                </a:solidFill>
                <a:latin typeface="Times New Roman" pitchFamily="18" charset="0"/>
                <a:cs typeface="Times New Roman" pitchFamily="18" charset="0"/>
              </a:rPr>
              <a:t>Program</a:t>
            </a:r>
          </a:p>
          <a:p>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&lt;form action="/</a:t>
            </a:r>
            <a:r>
              <a:rPr lang="en-US" sz="2800" dirty="0" err="1" smtClean="0">
                <a:latin typeface="Times New Roman" pitchFamily="18" charset="0"/>
                <a:cs typeface="Times New Roman" pitchFamily="18" charset="0"/>
              </a:rPr>
              <a:t>cgi</a:t>
            </a:r>
            <a:r>
              <a:rPr lang="en-US" sz="2800" dirty="0" smtClean="0">
                <a:latin typeface="Times New Roman" pitchFamily="18" charset="0"/>
                <a:cs typeface="Times New Roman" pitchFamily="18" charset="0"/>
              </a:rPr>
              <a:t>-bin/checkbox.cgi" method="POST" target="_blank"&gt; </a:t>
            </a:r>
          </a:p>
          <a:p>
            <a:r>
              <a:rPr lang="en-US" sz="2800" dirty="0" smtClean="0">
                <a:latin typeface="Times New Roman" pitchFamily="18" charset="0"/>
                <a:cs typeface="Times New Roman" pitchFamily="18" charset="0"/>
              </a:rPr>
              <a:t>&lt;input type="checkbox" name="</a:t>
            </a:r>
            <a:r>
              <a:rPr lang="en-US" sz="2800" dirty="0" err="1" smtClean="0">
                <a:latin typeface="Times New Roman" pitchFamily="18" charset="0"/>
                <a:cs typeface="Times New Roman" pitchFamily="18" charset="0"/>
              </a:rPr>
              <a:t>maths</a:t>
            </a:r>
            <a:r>
              <a:rPr lang="en-US" sz="2800" dirty="0" smtClean="0">
                <a:latin typeface="Times New Roman" pitchFamily="18" charset="0"/>
                <a:cs typeface="Times New Roman" pitchFamily="18" charset="0"/>
              </a:rPr>
              <a:t>" value="on" /&gt; </a:t>
            </a:r>
            <a:r>
              <a:rPr lang="en-US" sz="2800" dirty="0" err="1" smtClean="0">
                <a:latin typeface="Times New Roman" pitchFamily="18" charset="0"/>
                <a:cs typeface="Times New Roman" pitchFamily="18" charset="0"/>
              </a:rPr>
              <a:t>Maths</a:t>
            </a:r>
            <a:r>
              <a:rPr lang="en-US" sz="2800" dirty="0" smtClean="0">
                <a:latin typeface="Times New Roman" pitchFamily="18" charset="0"/>
                <a:cs typeface="Times New Roman" pitchFamily="18" charset="0"/>
              </a:rPr>
              <a:t> </a:t>
            </a:r>
          </a:p>
          <a:p>
            <a:r>
              <a:rPr lang="en-US" sz="2800" dirty="0" smtClean="0">
                <a:latin typeface="Times New Roman" pitchFamily="18" charset="0"/>
                <a:cs typeface="Times New Roman" pitchFamily="18" charset="0"/>
              </a:rPr>
              <a:t>&lt;input type="checkbox" name="physics" value="on" /&gt; Physics </a:t>
            </a:r>
          </a:p>
          <a:p>
            <a:r>
              <a:rPr lang="en-US" sz="2800" dirty="0" smtClean="0">
                <a:latin typeface="Times New Roman" pitchFamily="18" charset="0"/>
                <a:cs typeface="Times New Roman" pitchFamily="18" charset="0"/>
              </a:rPr>
              <a:t>&lt;input type="submit" value="Select Subject" /&gt; </a:t>
            </a:r>
          </a:p>
          <a:p>
            <a:r>
              <a:rPr lang="en-US" sz="2800" dirty="0" smtClean="0">
                <a:latin typeface="Times New Roman" pitchFamily="18" charset="0"/>
                <a:cs typeface="Times New Roman" pitchFamily="18" charset="0"/>
              </a:rPr>
              <a:t>&lt;/form&gt; </a:t>
            </a:r>
            <a:endParaRPr lang="en-US" sz="2800"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Output</a:t>
            </a:r>
            <a:endParaRPr lang="en-US" dirty="0">
              <a:latin typeface="Times New Roman" pitchFamily="18" charset="0"/>
              <a:cs typeface="Times New Roman" pitchFamily="18" charset="0"/>
            </a:endParaRPr>
          </a:p>
        </p:txBody>
      </p:sp>
      <p:pic>
        <p:nvPicPr>
          <p:cNvPr id="1027" name="Picture 3" descr="D:\Softwares\Script\Python\check box.png"/>
          <p:cNvPicPr>
            <a:picLocks noChangeAspect="1" noChangeArrowheads="1"/>
          </p:cNvPicPr>
          <p:nvPr/>
        </p:nvPicPr>
        <p:blipFill>
          <a:blip r:embed="rId2"/>
          <a:srcRect/>
          <a:stretch>
            <a:fillRect/>
          </a:stretch>
        </p:blipFill>
        <p:spPr bwMode="auto">
          <a:xfrm>
            <a:off x="1905000" y="1905000"/>
            <a:ext cx="4963410" cy="304800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2200" y="152400"/>
            <a:ext cx="4191000" cy="457200"/>
          </a:xfrm>
        </p:spPr>
        <p:txBody>
          <a:bodyPr>
            <a:noAutofit/>
          </a:bodyPr>
          <a:lstStyle/>
          <a:p>
            <a:r>
              <a:rPr lang="en-US" sz="2800" dirty="0" smtClean="0">
                <a:latin typeface="Times New Roman" pitchFamily="18" charset="0"/>
                <a:cs typeface="Times New Roman" pitchFamily="18" charset="0"/>
              </a:rPr>
              <a:t>Program</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609600"/>
            <a:ext cx="8229600" cy="6019800"/>
          </a:xfrm>
        </p:spPr>
        <p:txBody>
          <a:bodyPr>
            <a:noAutofit/>
          </a:bodyPr>
          <a:lstStyle/>
          <a:p>
            <a:r>
              <a:rPr lang="en-US" sz="2000" dirty="0" smtClean="0">
                <a:latin typeface="Times New Roman" pitchFamily="18" charset="0"/>
                <a:cs typeface="Times New Roman" pitchFamily="18" charset="0"/>
              </a:rPr>
              <a:t>#!/</a:t>
            </a:r>
            <a:r>
              <a:rPr lang="en-US" sz="2000" dirty="0" err="1" smtClean="0">
                <a:latin typeface="Times New Roman" pitchFamily="18" charset="0"/>
                <a:cs typeface="Times New Roman" pitchFamily="18" charset="0"/>
              </a:rPr>
              <a:t>usr</a:t>
            </a:r>
            <a:r>
              <a:rPr lang="en-US" sz="2000" dirty="0" smtClean="0">
                <a:latin typeface="Times New Roman" pitchFamily="18" charset="0"/>
                <a:cs typeface="Times New Roman" pitchFamily="18" charset="0"/>
              </a:rPr>
              <a:t>/bin/python </a:t>
            </a:r>
          </a:p>
          <a:p>
            <a:r>
              <a:rPr lang="en-US" sz="2000" dirty="0" smtClean="0">
                <a:latin typeface="Times New Roman" pitchFamily="18" charset="0"/>
                <a:cs typeface="Times New Roman" pitchFamily="18" charset="0"/>
              </a:rPr>
              <a:t># Import modules for CGI handling </a:t>
            </a:r>
          </a:p>
          <a:p>
            <a:r>
              <a:rPr lang="en-US" sz="2000" dirty="0" smtClean="0">
                <a:latin typeface="Times New Roman" pitchFamily="18" charset="0"/>
                <a:cs typeface="Times New Roman" pitchFamily="18" charset="0"/>
              </a:rPr>
              <a:t>import </a:t>
            </a:r>
            <a:r>
              <a:rPr lang="en-US" sz="2000" dirty="0" err="1" smtClean="0">
                <a:latin typeface="Times New Roman" pitchFamily="18" charset="0"/>
                <a:cs typeface="Times New Roman" pitchFamily="18" charset="0"/>
              </a:rPr>
              <a:t>cgi</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cgitb</a:t>
            </a:r>
            <a:r>
              <a:rPr lang="en-US" sz="2000" dirty="0" smtClean="0">
                <a:latin typeface="Times New Roman" pitchFamily="18" charset="0"/>
                <a:cs typeface="Times New Roman" pitchFamily="18" charset="0"/>
              </a:rPr>
              <a:t> </a:t>
            </a:r>
          </a:p>
          <a:p>
            <a:r>
              <a:rPr lang="en-US" sz="2000" dirty="0" smtClean="0">
                <a:latin typeface="Times New Roman" pitchFamily="18" charset="0"/>
                <a:cs typeface="Times New Roman" pitchFamily="18" charset="0"/>
              </a:rPr>
              <a:t># Create instance of </a:t>
            </a:r>
            <a:r>
              <a:rPr lang="en-US" sz="2000" dirty="0" err="1" smtClean="0">
                <a:latin typeface="Times New Roman" pitchFamily="18" charset="0"/>
                <a:cs typeface="Times New Roman" pitchFamily="18" charset="0"/>
              </a:rPr>
              <a:t>FieldStorage</a:t>
            </a:r>
            <a:r>
              <a:rPr lang="en-US" sz="2000" dirty="0" smtClean="0">
                <a:latin typeface="Times New Roman" pitchFamily="18" charset="0"/>
                <a:cs typeface="Times New Roman" pitchFamily="18" charset="0"/>
              </a:rPr>
              <a:t> </a:t>
            </a:r>
          </a:p>
          <a:p>
            <a:r>
              <a:rPr lang="en-US" sz="2000" dirty="0" smtClean="0">
                <a:latin typeface="Times New Roman" pitchFamily="18" charset="0"/>
                <a:cs typeface="Times New Roman" pitchFamily="18" charset="0"/>
              </a:rPr>
              <a:t>form = </a:t>
            </a:r>
            <a:r>
              <a:rPr lang="en-US" sz="2000" dirty="0" err="1" smtClean="0">
                <a:latin typeface="Times New Roman" pitchFamily="18" charset="0"/>
                <a:cs typeface="Times New Roman" pitchFamily="18" charset="0"/>
              </a:rPr>
              <a:t>cgi.FieldStorage</a:t>
            </a:r>
            <a:r>
              <a:rPr lang="en-US" sz="2000" dirty="0" smtClean="0">
                <a:latin typeface="Times New Roman" pitchFamily="18" charset="0"/>
                <a:cs typeface="Times New Roman" pitchFamily="18" charset="0"/>
              </a:rPr>
              <a:t>() </a:t>
            </a:r>
          </a:p>
          <a:p>
            <a:r>
              <a:rPr lang="en-US" sz="2000" dirty="0" smtClean="0">
                <a:latin typeface="Times New Roman" pitchFamily="18" charset="0"/>
                <a:cs typeface="Times New Roman" pitchFamily="18" charset="0"/>
              </a:rPr>
              <a:t># Get data from fields </a:t>
            </a:r>
          </a:p>
          <a:p>
            <a:r>
              <a:rPr lang="en-US" sz="2000" dirty="0" smtClean="0">
                <a:latin typeface="Times New Roman" pitchFamily="18" charset="0"/>
                <a:cs typeface="Times New Roman" pitchFamily="18" charset="0"/>
              </a:rPr>
              <a:t>if </a:t>
            </a:r>
            <a:r>
              <a:rPr lang="en-US" sz="2000" dirty="0" err="1" smtClean="0">
                <a:latin typeface="Times New Roman" pitchFamily="18" charset="0"/>
                <a:cs typeface="Times New Roman" pitchFamily="18" charset="0"/>
              </a:rPr>
              <a:t>form.getvalue</a:t>
            </a:r>
            <a:r>
              <a:rPr lang="en-US" sz="2000" dirty="0" smtClean="0">
                <a:latin typeface="Times New Roman" pitchFamily="18" charset="0"/>
                <a:cs typeface="Times New Roman" pitchFamily="18" charset="0"/>
              </a:rPr>
              <a:t>('</a:t>
            </a:r>
            <a:r>
              <a:rPr lang="en-US" sz="2000" dirty="0" err="1" smtClean="0">
                <a:latin typeface="Times New Roman" pitchFamily="18" charset="0"/>
                <a:cs typeface="Times New Roman" pitchFamily="18" charset="0"/>
              </a:rPr>
              <a:t>maths</a:t>
            </a:r>
            <a:r>
              <a:rPr lang="en-US" sz="2000" dirty="0" smtClean="0">
                <a:latin typeface="Times New Roman" pitchFamily="18" charset="0"/>
                <a:cs typeface="Times New Roman" pitchFamily="18" charset="0"/>
              </a:rPr>
              <a:t>'): </a:t>
            </a:r>
          </a:p>
          <a:p>
            <a:r>
              <a:rPr lang="en-US" sz="2000" dirty="0" err="1" smtClean="0">
                <a:latin typeface="Times New Roman" pitchFamily="18" charset="0"/>
                <a:cs typeface="Times New Roman" pitchFamily="18" charset="0"/>
              </a:rPr>
              <a:t>math_flag</a:t>
            </a:r>
            <a:r>
              <a:rPr lang="en-US" sz="2000" dirty="0" smtClean="0">
                <a:latin typeface="Times New Roman" pitchFamily="18" charset="0"/>
                <a:cs typeface="Times New Roman" pitchFamily="18" charset="0"/>
              </a:rPr>
              <a:t> = "ON" </a:t>
            </a:r>
          </a:p>
          <a:p>
            <a:r>
              <a:rPr lang="en-US" sz="2000" dirty="0" smtClean="0">
                <a:latin typeface="Times New Roman" pitchFamily="18" charset="0"/>
                <a:cs typeface="Times New Roman" pitchFamily="18" charset="0"/>
              </a:rPr>
              <a:t>else: </a:t>
            </a:r>
          </a:p>
          <a:p>
            <a:r>
              <a:rPr lang="en-US" sz="2000" dirty="0" err="1" smtClean="0">
                <a:latin typeface="Times New Roman" pitchFamily="18" charset="0"/>
                <a:cs typeface="Times New Roman" pitchFamily="18" charset="0"/>
              </a:rPr>
              <a:t>math_flag</a:t>
            </a:r>
            <a:r>
              <a:rPr lang="en-US" sz="2000" dirty="0" smtClean="0">
                <a:latin typeface="Times New Roman" pitchFamily="18" charset="0"/>
                <a:cs typeface="Times New Roman" pitchFamily="18" charset="0"/>
              </a:rPr>
              <a:t> = "OFF" </a:t>
            </a:r>
          </a:p>
          <a:p>
            <a:r>
              <a:rPr lang="en-US" sz="2000" dirty="0" smtClean="0">
                <a:latin typeface="Times New Roman" pitchFamily="18" charset="0"/>
                <a:cs typeface="Times New Roman" pitchFamily="18" charset="0"/>
              </a:rPr>
              <a:t>if </a:t>
            </a:r>
            <a:r>
              <a:rPr lang="en-US" sz="2000" dirty="0" err="1" smtClean="0">
                <a:latin typeface="Times New Roman" pitchFamily="18" charset="0"/>
                <a:cs typeface="Times New Roman" pitchFamily="18" charset="0"/>
              </a:rPr>
              <a:t>form.getvalue</a:t>
            </a:r>
            <a:r>
              <a:rPr lang="en-US" sz="2000" dirty="0" smtClean="0">
                <a:latin typeface="Times New Roman" pitchFamily="18" charset="0"/>
                <a:cs typeface="Times New Roman" pitchFamily="18" charset="0"/>
              </a:rPr>
              <a:t>('physics'): </a:t>
            </a:r>
          </a:p>
          <a:p>
            <a:r>
              <a:rPr lang="en-US" sz="2000" dirty="0" err="1" smtClean="0">
                <a:latin typeface="Times New Roman" pitchFamily="18" charset="0"/>
                <a:cs typeface="Times New Roman" pitchFamily="18" charset="0"/>
              </a:rPr>
              <a:t>physics_flag</a:t>
            </a:r>
            <a:r>
              <a:rPr lang="en-US" sz="2000" dirty="0" smtClean="0">
                <a:latin typeface="Times New Roman" pitchFamily="18" charset="0"/>
                <a:cs typeface="Times New Roman" pitchFamily="18" charset="0"/>
              </a:rPr>
              <a:t> = "ON" </a:t>
            </a:r>
          </a:p>
          <a:p>
            <a:r>
              <a:rPr lang="en-US" sz="2000" dirty="0" smtClean="0">
                <a:latin typeface="Times New Roman" pitchFamily="18" charset="0"/>
                <a:cs typeface="Times New Roman" pitchFamily="18" charset="0"/>
              </a:rPr>
              <a:t>else: </a:t>
            </a:r>
          </a:p>
          <a:p>
            <a:r>
              <a:rPr lang="en-US" sz="2000" dirty="0" err="1" smtClean="0">
                <a:latin typeface="Times New Roman" pitchFamily="18" charset="0"/>
                <a:cs typeface="Times New Roman" pitchFamily="18" charset="0"/>
              </a:rPr>
              <a:t>physics_flag</a:t>
            </a:r>
            <a:r>
              <a:rPr lang="en-US" sz="2000" dirty="0" smtClean="0">
                <a:latin typeface="Times New Roman" pitchFamily="18" charset="0"/>
                <a:cs typeface="Times New Roman" pitchFamily="18" charset="0"/>
              </a:rPr>
              <a:t> = "OFF"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867400"/>
          </a:xfrm>
        </p:spPr>
        <p:txBody>
          <a:bodyPr>
            <a:normAutofit fontScale="92500" lnSpcReduction="20000"/>
          </a:bodyPr>
          <a:lstStyle/>
          <a:p>
            <a:r>
              <a:rPr lang="en-US" dirty="0" smtClean="0">
                <a:latin typeface="Times New Roman" pitchFamily="18" charset="0"/>
                <a:cs typeface="Times New Roman" pitchFamily="18" charset="0"/>
              </a:rPr>
              <a:t>print "Content-</a:t>
            </a:r>
            <a:r>
              <a:rPr lang="en-US" dirty="0" err="1" smtClean="0">
                <a:latin typeface="Times New Roman" pitchFamily="18" charset="0"/>
                <a:cs typeface="Times New Roman" pitchFamily="18" charset="0"/>
              </a:rPr>
              <a:t>type:text</a:t>
            </a:r>
            <a:r>
              <a:rPr lang="en-US" dirty="0" smtClean="0">
                <a:latin typeface="Times New Roman" pitchFamily="18" charset="0"/>
                <a:cs typeface="Times New Roman" pitchFamily="18" charset="0"/>
              </a:rPr>
              <a:t>/html\r\n\r\n" </a:t>
            </a:r>
          </a:p>
          <a:p>
            <a:r>
              <a:rPr lang="en-US" dirty="0" smtClean="0">
                <a:latin typeface="Times New Roman" pitchFamily="18" charset="0"/>
                <a:cs typeface="Times New Roman" pitchFamily="18" charset="0"/>
              </a:rPr>
              <a:t>print "&lt;html&gt;" </a:t>
            </a:r>
          </a:p>
          <a:p>
            <a:r>
              <a:rPr lang="en-US" dirty="0" smtClean="0">
                <a:latin typeface="Times New Roman" pitchFamily="18" charset="0"/>
                <a:cs typeface="Times New Roman" pitchFamily="18" charset="0"/>
              </a:rPr>
              <a:t>print "&lt;head&gt;" </a:t>
            </a:r>
          </a:p>
          <a:p>
            <a:r>
              <a:rPr lang="en-US" dirty="0" smtClean="0">
                <a:latin typeface="Times New Roman" pitchFamily="18" charset="0"/>
                <a:cs typeface="Times New Roman" pitchFamily="18" charset="0"/>
              </a:rPr>
              <a:t>print "&lt;title&gt;Checkbox - Third CGI Program&lt;/title&gt;" </a:t>
            </a:r>
          </a:p>
          <a:p>
            <a:r>
              <a:rPr lang="en-US" dirty="0" smtClean="0">
                <a:latin typeface="Times New Roman" pitchFamily="18" charset="0"/>
                <a:cs typeface="Times New Roman" pitchFamily="18" charset="0"/>
              </a:rPr>
              <a:t>print "&lt;/head&gt;" </a:t>
            </a:r>
          </a:p>
          <a:p>
            <a:r>
              <a:rPr lang="en-US" dirty="0" smtClean="0">
                <a:latin typeface="Times New Roman" pitchFamily="18" charset="0"/>
                <a:cs typeface="Times New Roman" pitchFamily="18" charset="0"/>
              </a:rPr>
              <a:t>print "&lt;body&gt;" </a:t>
            </a:r>
          </a:p>
          <a:p>
            <a:r>
              <a:rPr lang="en-US" dirty="0" smtClean="0">
                <a:latin typeface="Times New Roman" pitchFamily="18" charset="0"/>
                <a:cs typeface="Times New Roman" pitchFamily="18" charset="0"/>
              </a:rPr>
              <a:t>print "&lt;h2&gt; </a:t>
            </a:r>
            <a:r>
              <a:rPr lang="en-US" dirty="0" err="1" smtClean="0">
                <a:latin typeface="Times New Roman" pitchFamily="18" charset="0"/>
                <a:cs typeface="Times New Roman" pitchFamily="18" charset="0"/>
              </a:rPr>
              <a:t>CheckBox</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Maths</a:t>
            </a:r>
            <a:r>
              <a:rPr lang="en-US" dirty="0" smtClean="0">
                <a:latin typeface="Times New Roman" pitchFamily="18" charset="0"/>
                <a:cs typeface="Times New Roman" pitchFamily="18" charset="0"/>
              </a:rPr>
              <a:t> is : %s&lt;/h2&gt;" % </a:t>
            </a:r>
            <a:r>
              <a:rPr lang="en-US" dirty="0" err="1" smtClean="0">
                <a:latin typeface="Times New Roman" pitchFamily="18" charset="0"/>
                <a:cs typeface="Times New Roman" pitchFamily="18" charset="0"/>
              </a:rPr>
              <a:t>math_flag</a:t>
            </a:r>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print "&lt;h2&gt; </a:t>
            </a:r>
            <a:r>
              <a:rPr lang="en-US" dirty="0" err="1" smtClean="0">
                <a:latin typeface="Times New Roman" pitchFamily="18" charset="0"/>
                <a:cs typeface="Times New Roman" pitchFamily="18" charset="0"/>
              </a:rPr>
              <a:t>CheckBox</a:t>
            </a:r>
            <a:r>
              <a:rPr lang="en-US" dirty="0" smtClean="0">
                <a:latin typeface="Times New Roman" pitchFamily="18" charset="0"/>
                <a:cs typeface="Times New Roman" pitchFamily="18" charset="0"/>
              </a:rPr>
              <a:t> Physics is : %s&lt;/h2&gt;" % </a:t>
            </a:r>
            <a:r>
              <a:rPr lang="en-US" dirty="0" err="1" smtClean="0">
                <a:latin typeface="Times New Roman" pitchFamily="18" charset="0"/>
                <a:cs typeface="Times New Roman" pitchFamily="18" charset="0"/>
              </a:rPr>
              <a:t>physics_flag</a:t>
            </a:r>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print "&lt;/body&gt;" </a:t>
            </a:r>
          </a:p>
          <a:p>
            <a:r>
              <a:rPr lang="en-US" dirty="0" smtClean="0">
                <a:latin typeface="Times New Roman" pitchFamily="18" charset="0"/>
                <a:cs typeface="Times New Roman" pitchFamily="18" charset="0"/>
              </a:rPr>
              <a:t>print "&lt;/html&gt;" </a:t>
            </a:r>
            <a:endParaRPr lang="en-US" b="1" dirty="0" smtClean="0">
              <a:latin typeface="Times New Roman" pitchFamily="18" charset="0"/>
              <a:cs typeface="Times New Roman" pitchFamily="18" charset="0"/>
            </a:endParaRP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52400"/>
            <a:ext cx="6553200" cy="762000"/>
          </a:xfrm>
        </p:spPr>
        <p:txBody>
          <a:bodyPr>
            <a:noAutofit/>
          </a:bodyPr>
          <a:lstStyle/>
          <a:p>
            <a:r>
              <a:rPr lang="en-US" sz="2000" b="1" dirty="0" smtClean="0">
                <a:solidFill>
                  <a:srgbClr val="FF0000"/>
                </a:solidFill>
                <a:latin typeface="Times New Roman" pitchFamily="18" charset="0"/>
                <a:cs typeface="Times New Roman" pitchFamily="18" charset="0"/>
              </a:rPr>
              <a:t>Passing Radio Button Data to CGI Program </a:t>
            </a:r>
            <a:endParaRPr lang="en-US" sz="20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381000" y="1219200"/>
            <a:ext cx="8458200" cy="5410200"/>
          </a:xfrm>
        </p:spPr>
        <p:txBody>
          <a:bodyPr>
            <a:normAutofit/>
          </a:bodyPr>
          <a:lstStyle/>
          <a:p>
            <a:r>
              <a:rPr lang="en-US" sz="2800" dirty="0" smtClean="0">
                <a:solidFill>
                  <a:srgbClr val="FF0000"/>
                </a:solidFill>
                <a:latin typeface="Times New Roman" pitchFamily="18" charset="0"/>
                <a:cs typeface="Times New Roman" pitchFamily="18" charset="0"/>
              </a:rPr>
              <a:t>Program</a:t>
            </a:r>
          </a:p>
          <a:p>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&lt;form action="/</a:t>
            </a:r>
            <a:r>
              <a:rPr lang="en-US" sz="2800" dirty="0" err="1" smtClean="0">
                <a:latin typeface="Times New Roman" pitchFamily="18" charset="0"/>
                <a:cs typeface="Times New Roman" pitchFamily="18" charset="0"/>
              </a:rPr>
              <a:t>cgi</a:t>
            </a:r>
            <a:r>
              <a:rPr lang="en-US" sz="2800" dirty="0" smtClean="0">
                <a:latin typeface="Times New Roman" pitchFamily="18" charset="0"/>
                <a:cs typeface="Times New Roman" pitchFamily="18" charset="0"/>
              </a:rPr>
              <a:t>-bin/radiobutton.py" method="post" target="_blank"&gt; </a:t>
            </a:r>
          </a:p>
          <a:p>
            <a:r>
              <a:rPr lang="en-US" sz="2800" dirty="0" smtClean="0">
                <a:latin typeface="Times New Roman" pitchFamily="18" charset="0"/>
                <a:cs typeface="Times New Roman" pitchFamily="18" charset="0"/>
              </a:rPr>
              <a:t>&lt;input type="radio" name="subject" value="</a:t>
            </a:r>
            <a:r>
              <a:rPr lang="en-US" sz="2800" dirty="0" err="1" smtClean="0">
                <a:latin typeface="Times New Roman" pitchFamily="18" charset="0"/>
                <a:cs typeface="Times New Roman" pitchFamily="18" charset="0"/>
              </a:rPr>
              <a:t>maths</a:t>
            </a:r>
            <a:r>
              <a:rPr lang="en-US" sz="2800" dirty="0" smtClean="0">
                <a:latin typeface="Times New Roman" pitchFamily="18" charset="0"/>
                <a:cs typeface="Times New Roman" pitchFamily="18" charset="0"/>
              </a:rPr>
              <a:t>" /&gt; </a:t>
            </a:r>
            <a:r>
              <a:rPr lang="en-US" sz="2800" dirty="0" err="1" smtClean="0">
                <a:latin typeface="Times New Roman" pitchFamily="18" charset="0"/>
                <a:cs typeface="Times New Roman" pitchFamily="18" charset="0"/>
              </a:rPr>
              <a:t>Maths</a:t>
            </a:r>
            <a:r>
              <a:rPr lang="en-US" sz="2800" dirty="0" smtClean="0">
                <a:latin typeface="Times New Roman" pitchFamily="18" charset="0"/>
                <a:cs typeface="Times New Roman" pitchFamily="18" charset="0"/>
              </a:rPr>
              <a:t> </a:t>
            </a:r>
          </a:p>
          <a:p>
            <a:r>
              <a:rPr lang="en-US" sz="2800" dirty="0" smtClean="0">
                <a:latin typeface="Times New Roman" pitchFamily="18" charset="0"/>
                <a:cs typeface="Times New Roman" pitchFamily="18" charset="0"/>
              </a:rPr>
              <a:t>&lt;input type="radio" name="subject" value="physics" /&gt; Physics </a:t>
            </a:r>
          </a:p>
          <a:p>
            <a:r>
              <a:rPr lang="en-US" sz="2800" dirty="0" smtClean="0">
                <a:latin typeface="Times New Roman" pitchFamily="18" charset="0"/>
                <a:cs typeface="Times New Roman" pitchFamily="18" charset="0"/>
              </a:rPr>
              <a:t>&lt;input type="submit" value="Select Subject" /&gt; </a:t>
            </a:r>
          </a:p>
          <a:p>
            <a:r>
              <a:rPr lang="en-US" sz="2800" dirty="0" smtClean="0">
                <a:latin typeface="Times New Roman" pitchFamily="18" charset="0"/>
                <a:cs typeface="Times New Roman" pitchFamily="18" charset="0"/>
              </a:rPr>
              <a:t>&lt;/form&gt; </a:t>
            </a:r>
            <a:endParaRPr lang="en-US" sz="2800" dirty="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3600" dirty="0" smtClean="0">
                <a:latin typeface="Times New Roman" pitchFamily="18" charset="0"/>
                <a:cs typeface="Times New Roman" pitchFamily="18" charset="0"/>
              </a:rPr>
              <a:t>Output</a:t>
            </a:r>
            <a:endParaRPr lang="en-US" sz="3600" dirty="0">
              <a:latin typeface="Times New Roman" pitchFamily="18" charset="0"/>
              <a:cs typeface="Times New Roman" pitchFamily="18" charset="0"/>
            </a:endParaRPr>
          </a:p>
        </p:txBody>
      </p:sp>
      <p:pic>
        <p:nvPicPr>
          <p:cNvPr id="2050" name="Picture 2" descr="D:\Softwares\Script\Python\radio.png"/>
          <p:cNvPicPr>
            <a:picLocks noChangeAspect="1" noChangeArrowheads="1"/>
          </p:cNvPicPr>
          <p:nvPr/>
        </p:nvPicPr>
        <p:blipFill>
          <a:blip r:embed="rId2"/>
          <a:srcRect/>
          <a:stretch>
            <a:fillRect/>
          </a:stretch>
        </p:blipFill>
        <p:spPr bwMode="auto">
          <a:xfrm>
            <a:off x="990600" y="2057400"/>
            <a:ext cx="7197969" cy="2286000"/>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5029200" cy="609600"/>
          </a:xfrm>
        </p:spPr>
        <p:txBody>
          <a:bodyPr>
            <a:normAutofit/>
          </a:bodyPr>
          <a:lstStyle/>
          <a:p>
            <a:r>
              <a:rPr lang="en-US" sz="2800" dirty="0" smtClean="0">
                <a:latin typeface="Times New Roman" pitchFamily="18" charset="0"/>
                <a:cs typeface="Times New Roman" pitchFamily="18" charset="0"/>
              </a:rPr>
              <a:t>Program</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381000" y="762000"/>
            <a:ext cx="8458200" cy="5867400"/>
          </a:xfrm>
        </p:spPr>
        <p:txBody>
          <a:bodyPr>
            <a:normAutofit fontScale="62500" lnSpcReduction="20000"/>
          </a:bodyPr>
          <a:lstStyle/>
          <a:p>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usr</a:t>
            </a:r>
            <a:r>
              <a:rPr lang="en-US" dirty="0" smtClean="0">
                <a:latin typeface="Times New Roman" pitchFamily="18" charset="0"/>
                <a:cs typeface="Times New Roman" pitchFamily="18" charset="0"/>
              </a:rPr>
              <a:t>/bin/python </a:t>
            </a:r>
          </a:p>
          <a:p>
            <a:r>
              <a:rPr lang="en-US" dirty="0" smtClean="0">
                <a:latin typeface="Times New Roman" pitchFamily="18" charset="0"/>
                <a:cs typeface="Times New Roman" pitchFamily="18" charset="0"/>
              </a:rPr>
              <a:t># Import modules for CGI handling </a:t>
            </a:r>
          </a:p>
          <a:p>
            <a:r>
              <a:rPr lang="en-US" dirty="0" smtClean="0">
                <a:latin typeface="Times New Roman" pitchFamily="18" charset="0"/>
                <a:cs typeface="Times New Roman" pitchFamily="18" charset="0"/>
              </a:rPr>
              <a:t>import </a:t>
            </a:r>
            <a:r>
              <a:rPr lang="en-US" dirty="0" err="1" smtClean="0">
                <a:latin typeface="Times New Roman" pitchFamily="18" charset="0"/>
                <a:cs typeface="Times New Roman" pitchFamily="18" charset="0"/>
              </a:rPr>
              <a:t>cgi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cgitb</a:t>
            </a:r>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 Create instance of </a:t>
            </a:r>
            <a:r>
              <a:rPr lang="en-US" dirty="0" err="1" smtClean="0">
                <a:latin typeface="Times New Roman" pitchFamily="18" charset="0"/>
                <a:cs typeface="Times New Roman" pitchFamily="18" charset="0"/>
              </a:rPr>
              <a:t>FieldStorage</a:t>
            </a:r>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form = </a:t>
            </a:r>
            <a:r>
              <a:rPr lang="en-US" dirty="0" err="1" smtClean="0">
                <a:latin typeface="Times New Roman" pitchFamily="18" charset="0"/>
                <a:cs typeface="Times New Roman" pitchFamily="18" charset="0"/>
              </a:rPr>
              <a:t>cgi.FieldStorage</a:t>
            </a:r>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 Get data from fields </a:t>
            </a:r>
          </a:p>
          <a:p>
            <a:r>
              <a:rPr lang="en-US" dirty="0" smtClean="0">
                <a:latin typeface="Times New Roman" pitchFamily="18" charset="0"/>
                <a:cs typeface="Times New Roman" pitchFamily="18" charset="0"/>
              </a:rPr>
              <a:t>if </a:t>
            </a:r>
            <a:r>
              <a:rPr lang="en-US" dirty="0" err="1" smtClean="0">
                <a:latin typeface="Times New Roman" pitchFamily="18" charset="0"/>
                <a:cs typeface="Times New Roman" pitchFamily="18" charset="0"/>
              </a:rPr>
              <a:t>form.getvalue</a:t>
            </a:r>
            <a:r>
              <a:rPr lang="en-US" dirty="0" smtClean="0">
                <a:latin typeface="Times New Roman" pitchFamily="18" charset="0"/>
                <a:cs typeface="Times New Roman" pitchFamily="18" charset="0"/>
              </a:rPr>
              <a:t>('subject'):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subject = </a:t>
            </a:r>
            <a:r>
              <a:rPr lang="en-US" dirty="0" err="1" smtClean="0">
                <a:latin typeface="Times New Roman" pitchFamily="18" charset="0"/>
                <a:cs typeface="Times New Roman" pitchFamily="18" charset="0"/>
              </a:rPr>
              <a:t>form.getvalue</a:t>
            </a:r>
            <a:r>
              <a:rPr lang="en-US" dirty="0" smtClean="0">
                <a:latin typeface="Times New Roman" pitchFamily="18" charset="0"/>
                <a:cs typeface="Times New Roman" pitchFamily="18" charset="0"/>
              </a:rPr>
              <a:t>('subject') </a:t>
            </a:r>
          </a:p>
          <a:p>
            <a:r>
              <a:rPr lang="en-US" dirty="0" smtClean="0">
                <a:latin typeface="Times New Roman" pitchFamily="18" charset="0"/>
                <a:cs typeface="Times New Roman" pitchFamily="18" charset="0"/>
              </a:rPr>
              <a:t>else: </a:t>
            </a:r>
          </a:p>
          <a:p>
            <a:r>
              <a:rPr lang="en-US" dirty="0" smtClean="0">
                <a:latin typeface="Times New Roman" pitchFamily="18" charset="0"/>
                <a:cs typeface="Times New Roman" pitchFamily="18" charset="0"/>
              </a:rPr>
              <a:t>subject = "Not set"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print "Content-</a:t>
            </a:r>
            <a:r>
              <a:rPr lang="en-US" dirty="0" err="1" smtClean="0">
                <a:latin typeface="Times New Roman" pitchFamily="18" charset="0"/>
                <a:cs typeface="Times New Roman" pitchFamily="18" charset="0"/>
              </a:rPr>
              <a:t>type:text</a:t>
            </a:r>
            <a:r>
              <a:rPr lang="en-US" dirty="0" smtClean="0">
                <a:latin typeface="Times New Roman" pitchFamily="18" charset="0"/>
                <a:cs typeface="Times New Roman" pitchFamily="18" charset="0"/>
              </a:rPr>
              <a:t>/html\r\n\r\n" </a:t>
            </a:r>
          </a:p>
          <a:p>
            <a:r>
              <a:rPr lang="en-US" dirty="0" smtClean="0">
                <a:latin typeface="Times New Roman" pitchFamily="18" charset="0"/>
                <a:cs typeface="Times New Roman" pitchFamily="18" charset="0"/>
              </a:rPr>
              <a:t>print "&lt;html&gt;" </a:t>
            </a:r>
          </a:p>
          <a:p>
            <a:r>
              <a:rPr lang="en-US" dirty="0" smtClean="0">
                <a:latin typeface="Times New Roman" pitchFamily="18" charset="0"/>
                <a:cs typeface="Times New Roman" pitchFamily="18" charset="0"/>
              </a:rPr>
              <a:t>print "&lt;head&gt;" </a:t>
            </a:r>
          </a:p>
          <a:p>
            <a:r>
              <a:rPr lang="en-US" dirty="0" smtClean="0">
                <a:latin typeface="Times New Roman" pitchFamily="18" charset="0"/>
                <a:cs typeface="Times New Roman" pitchFamily="18" charset="0"/>
              </a:rPr>
              <a:t>print "&lt;title&gt;Radio - Fourth CGI Program&lt;/title&gt;" </a:t>
            </a:r>
          </a:p>
          <a:p>
            <a:r>
              <a:rPr lang="en-US" dirty="0" smtClean="0">
                <a:latin typeface="Times New Roman" pitchFamily="18" charset="0"/>
                <a:cs typeface="Times New Roman" pitchFamily="18" charset="0"/>
              </a:rPr>
              <a:t>print "&lt;/head&gt;" </a:t>
            </a:r>
          </a:p>
          <a:p>
            <a:r>
              <a:rPr lang="en-US" dirty="0" smtClean="0">
                <a:latin typeface="Times New Roman" pitchFamily="18" charset="0"/>
                <a:cs typeface="Times New Roman" pitchFamily="18" charset="0"/>
              </a:rPr>
              <a:t>print "&lt;body&gt;" </a:t>
            </a:r>
          </a:p>
          <a:p>
            <a:r>
              <a:rPr lang="en-US" dirty="0" smtClean="0">
                <a:latin typeface="Times New Roman" pitchFamily="18" charset="0"/>
                <a:cs typeface="Times New Roman" pitchFamily="18" charset="0"/>
              </a:rPr>
              <a:t>print "&lt;h2&gt; Selected Subject is %s&lt;/h2&gt;" % subject </a:t>
            </a:r>
          </a:p>
          <a:p>
            <a:r>
              <a:rPr lang="en-US" dirty="0" smtClean="0">
                <a:latin typeface="Times New Roman" pitchFamily="18" charset="0"/>
                <a:cs typeface="Times New Roman" pitchFamily="18" charset="0"/>
              </a:rPr>
              <a:t>print "&lt;/body&gt;" </a:t>
            </a:r>
          </a:p>
          <a:p>
            <a:r>
              <a:rPr lang="en-US" dirty="0" smtClean="0">
                <a:latin typeface="Times New Roman" pitchFamily="18" charset="0"/>
                <a:cs typeface="Times New Roman" pitchFamily="18" charset="0"/>
              </a:rPr>
              <a:t>print "&lt;/html&gt;" </a:t>
            </a:r>
            <a:endParaRPr lang="en-US"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152400"/>
            <a:ext cx="6477000" cy="609600"/>
          </a:xfrm>
        </p:spPr>
        <p:txBody>
          <a:bodyPr>
            <a:normAutofit/>
          </a:bodyPr>
          <a:lstStyle/>
          <a:p>
            <a:r>
              <a:rPr lang="en-US" sz="2200" b="1" dirty="0" smtClean="0">
                <a:latin typeface="Times New Roman" pitchFamily="18" charset="0"/>
                <a:cs typeface="Times New Roman" pitchFamily="18" charset="0"/>
              </a:rPr>
              <a:t>Passing Text Area Data to CGI Program </a:t>
            </a:r>
            <a:endParaRPr lang="en-US" sz="2200" dirty="0">
              <a:latin typeface="Times New Roman" pitchFamily="18" charset="0"/>
              <a:cs typeface="Times New Roman" pitchFamily="18" charset="0"/>
            </a:endParaRPr>
          </a:p>
        </p:txBody>
      </p:sp>
      <p:sp>
        <p:nvSpPr>
          <p:cNvPr id="3" name="Content Placeholder 2"/>
          <p:cNvSpPr>
            <a:spLocks noGrp="1"/>
          </p:cNvSpPr>
          <p:nvPr>
            <p:ph idx="1"/>
          </p:nvPr>
        </p:nvSpPr>
        <p:spPr>
          <a:xfrm>
            <a:off x="381000" y="762000"/>
            <a:ext cx="8458200" cy="5715000"/>
          </a:xfrm>
        </p:spPr>
        <p:txBody>
          <a:bodyPr>
            <a:normAutofit/>
          </a:bodyPr>
          <a:lstStyle/>
          <a:p>
            <a:r>
              <a:rPr lang="en-US" sz="2800" dirty="0" smtClean="0">
                <a:latin typeface="Times New Roman" pitchFamily="18" charset="0"/>
                <a:cs typeface="Times New Roman" pitchFamily="18" charset="0"/>
              </a:rPr>
              <a:t>TEXTAREA element is used when multiline text has to be passed to the CGI Program. </a:t>
            </a:r>
            <a:endParaRPr lang="en-US" sz="2800" dirty="0" smtClean="0">
              <a:latin typeface="Times New Roman" pitchFamily="18" charset="0"/>
              <a:cs typeface="Times New Roman" pitchFamily="18" charset="0"/>
            </a:endParaRPr>
          </a:p>
          <a:p>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&lt;form action="/</a:t>
            </a:r>
            <a:r>
              <a:rPr lang="en-US" sz="2800" dirty="0" err="1" smtClean="0">
                <a:latin typeface="Times New Roman" pitchFamily="18" charset="0"/>
                <a:cs typeface="Times New Roman" pitchFamily="18" charset="0"/>
              </a:rPr>
              <a:t>cgi</a:t>
            </a:r>
            <a:r>
              <a:rPr lang="en-US" sz="2800" dirty="0" smtClean="0">
                <a:latin typeface="Times New Roman" pitchFamily="18" charset="0"/>
                <a:cs typeface="Times New Roman" pitchFamily="18" charset="0"/>
              </a:rPr>
              <a:t>-bin/textarea.py" method="post" target="_blank"&gt; </a:t>
            </a:r>
          </a:p>
          <a:p>
            <a:r>
              <a:rPr lang="en-US" sz="2800" dirty="0" smtClean="0">
                <a:latin typeface="Times New Roman" pitchFamily="18" charset="0"/>
                <a:cs typeface="Times New Roman" pitchFamily="18" charset="0"/>
              </a:rPr>
              <a:t>&lt;</a:t>
            </a:r>
            <a:r>
              <a:rPr lang="en-US" sz="2800" dirty="0" err="1" smtClean="0">
                <a:latin typeface="Times New Roman" pitchFamily="18" charset="0"/>
                <a:cs typeface="Times New Roman" pitchFamily="18" charset="0"/>
              </a:rPr>
              <a:t>textarea</a:t>
            </a:r>
            <a:r>
              <a:rPr lang="en-US" sz="2800" dirty="0" smtClean="0">
                <a:latin typeface="Times New Roman" pitchFamily="18" charset="0"/>
                <a:cs typeface="Times New Roman" pitchFamily="18" charset="0"/>
              </a:rPr>
              <a:t> name="</a:t>
            </a:r>
            <a:r>
              <a:rPr lang="en-US" sz="2800" dirty="0" err="1" smtClean="0">
                <a:latin typeface="Times New Roman" pitchFamily="18" charset="0"/>
                <a:cs typeface="Times New Roman" pitchFamily="18" charset="0"/>
              </a:rPr>
              <a:t>textcontent</a:t>
            </a:r>
            <a:r>
              <a:rPr lang="en-US" sz="2800" dirty="0" smtClean="0">
                <a:latin typeface="Times New Roman" pitchFamily="18" charset="0"/>
                <a:cs typeface="Times New Roman" pitchFamily="18" charset="0"/>
              </a:rPr>
              <a:t>" cols="40" rows="4"&gt; </a:t>
            </a:r>
          </a:p>
          <a:p>
            <a:r>
              <a:rPr lang="en-US" sz="2800" dirty="0" smtClean="0">
                <a:latin typeface="Times New Roman" pitchFamily="18" charset="0"/>
                <a:cs typeface="Times New Roman" pitchFamily="18" charset="0"/>
              </a:rPr>
              <a:t>Type your text here... </a:t>
            </a:r>
          </a:p>
          <a:p>
            <a:r>
              <a:rPr lang="en-US" sz="2800" dirty="0" smtClean="0">
                <a:latin typeface="Times New Roman" pitchFamily="18" charset="0"/>
                <a:cs typeface="Times New Roman" pitchFamily="18" charset="0"/>
              </a:rPr>
              <a:t>&lt;/</a:t>
            </a:r>
            <a:r>
              <a:rPr lang="en-US" sz="2800" dirty="0" err="1" smtClean="0">
                <a:latin typeface="Times New Roman" pitchFamily="18" charset="0"/>
                <a:cs typeface="Times New Roman" pitchFamily="18" charset="0"/>
              </a:rPr>
              <a:t>textarea</a:t>
            </a:r>
            <a:r>
              <a:rPr lang="en-US" sz="2800" dirty="0" smtClean="0">
                <a:latin typeface="Times New Roman" pitchFamily="18" charset="0"/>
                <a:cs typeface="Times New Roman" pitchFamily="18" charset="0"/>
              </a:rPr>
              <a:t>&gt; </a:t>
            </a:r>
          </a:p>
          <a:p>
            <a:r>
              <a:rPr lang="en-US" sz="2800" dirty="0" smtClean="0">
                <a:latin typeface="Times New Roman" pitchFamily="18" charset="0"/>
                <a:cs typeface="Times New Roman" pitchFamily="18" charset="0"/>
              </a:rPr>
              <a:t>&lt;input type="submit" value="Submit" /&gt; </a:t>
            </a:r>
          </a:p>
          <a:p>
            <a:r>
              <a:rPr lang="en-US" sz="2800" dirty="0" smtClean="0">
                <a:latin typeface="Times New Roman" pitchFamily="18" charset="0"/>
                <a:cs typeface="Times New Roman" pitchFamily="18" charset="0"/>
              </a:rPr>
              <a:t>&lt;/form&gt; </a:t>
            </a:r>
            <a:endParaRPr lang="en-US" sz="2800" dirty="0">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274638"/>
            <a:ext cx="4876800" cy="868362"/>
          </a:xfrm>
        </p:spPr>
        <p:txBody>
          <a:bodyPr>
            <a:normAutofit/>
          </a:bodyPr>
          <a:lstStyle/>
          <a:p>
            <a:r>
              <a:rPr lang="en-US" sz="3600" dirty="0" smtClean="0">
                <a:latin typeface="Times New Roman" pitchFamily="18" charset="0"/>
                <a:cs typeface="Times New Roman" pitchFamily="18" charset="0"/>
              </a:rPr>
              <a:t>Output</a:t>
            </a:r>
            <a:endParaRPr lang="en-US" sz="3600" dirty="0">
              <a:latin typeface="Times New Roman" pitchFamily="18" charset="0"/>
              <a:cs typeface="Times New Roman" pitchFamily="18" charset="0"/>
            </a:endParaRPr>
          </a:p>
        </p:txBody>
      </p:sp>
      <p:pic>
        <p:nvPicPr>
          <p:cNvPr id="3074" name="Picture 2" descr="D:\Softwares\Script\Python\textareadata.png"/>
          <p:cNvPicPr>
            <a:picLocks noChangeAspect="1" noChangeArrowheads="1"/>
          </p:cNvPicPr>
          <p:nvPr/>
        </p:nvPicPr>
        <p:blipFill>
          <a:blip r:embed="rId2"/>
          <a:srcRect/>
          <a:stretch>
            <a:fillRect/>
          </a:stretch>
        </p:blipFill>
        <p:spPr bwMode="auto">
          <a:xfrm>
            <a:off x="2362200" y="2209800"/>
            <a:ext cx="5105400" cy="2743200"/>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4600" y="152400"/>
            <a:ext cx="4267200" cy="609600"/>
          </a:xfrm>
        </p:spPr>
        <p:txBody>
          <a:bodyPr>
            <a:normAutofit/>
          </a:bodyPr>
          <a:lstStyle/>
          <a:p>
            <a:r>
              <a:rPr lang="en-US" sz="2400" dirty="0" smtClean="0">
                <a:latin typeface="Times New Roman" pitchFamily="18" charset="0"/>
                <a:cs typeface="Times New Roman" pitchFamily="18" charset="0"/>
              </a:rPr>
              <a:t>Program</a:t>
            </a:r>
            <a:endParaRPr lang="en-US" sz="24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762000"/>
            <a:ext cx="8305800" cy="5715000"/>
          </a:xfrm>
        </p:spPr>
        <p:txBody>
          <a:bodyPr>
            <a:normAutofit fontScale="62500" lnSpcReduction="20000"/>
          </a:bodyPr>
          <a:lstStyle/>
          <a:p>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usr</a:t>
            </a:r>
            <a:r>
              <a:rPr lang="en-US" dirty="0" smtClean="0">
                <a:latin typeface="Times New Roman" pitchFamily="18" charset="0"/>
                <a:cs typeface="Times New Roman" pitchFamily="18" charset="0"/>
              </a:rPr>
              <a:t>/bin/python </a:t>
            </a:r>
          </a:p>
          <a:p>
            <a:r>
              <a:rPr lang="en-US" dirty="0" smtClean="0">
                <a:latin typeface="Times New Roman" pitchFamily="18" charset="0"/>
                <a:cs typeface="Times New Roman" pitchFamily="18" charset="0"/>
              </a:rPr>
              <a:t># Import modules for CGI handling </a:t>
            </a:r>
          </a:p>
          <a:p>
            <a:r>
              <a:rPr lang="en-US" dirty="0" smtClean="0">
                <a:latin typeface="Times New Roman" pitchFamily="18" charset="0"/>
                <a:cs typeface="Times New Roman" pitchFamily="18" charset="0"/>
              </a:rPr>
              <a:t>import </a:t>
            </a:r>
            <a:r>
              <a:rPr lang="en-US" dirty="0" err="1" smtClean="0">
                <a:latin typeface="Times New Roman" pitchFamily="18" charset="0"/>
                <a:cs typeface="Times New Roman" pitchFamily="18" charset="0"/>
              </a:rPr>
              <a:t>cgi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cgitb</a:t>
            </a:r>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 Create instance of </a:t>
            </a:r>
            <a:r>
              <a:rPr lang="en-US" dirty="0" err="1" smtClean="0">
                <a:latin typeface="Times New Roman" pitchFamily="18" charset="0"/>
                <a:cs typeface="Times New Roman" pitchFamily="18" charset="0"/>
              </a:rPr>
              <a:t>FieldStorage</a:t>
            </a:r>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form = </a:t>
            </a:r>
            <a:r>
              <a:rPr lang="en-US" dirty="0" err="1" smtClean="0">
                <a:latin typeface="Times New Roman" pitchFamily="18" charset="0"/>
                <a:cs typeface="Times New Roman" pitchFamily="18" charset="0"/>
              </a:rPr>
              <a:t>cgi.FieldStorage</a:t>
            </a:r>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 Get data from fields </a:t>
            </a:r>
          </a:p>
          <a:p>
            <a:r>
              <a:rPr lang="en-US" dirty="0" smtClean="0">
                <a:latin typeface="Times New Roman" pitchFamily="18" charset="0"/>
                <a:cs typeface="Times New Roman" pitchFamily="18" charset="0"/>
              </a:rPr>
              <a:t>if </a:t>
            </a:r>
            <a:r>
              <a:rPr lang="en-US" dirty="0" err="1" smtClean="0">
                <a:latin typeface="Times New Roman" pitchFamily="18" charset="0"/>
                <a:cs typeface="Times New Roman" pitchFamily="18" charset="0"/>
              </a:rPr>
              <a:t>form.getvalue</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textcontent</a:t>
            </a:r>
            <a:r>
              <a:rPr lang="en-US" dirty="0" smtClean="0">
                <a:latin typeface="Times New Roman" pitchFamily="18" charset="0"/>
                <a:cs typeface="Times New Roman" pitchFamily="18" charset="0"/>
              </a:rPr>
              <a:t>'): </a:t>
            </a:r>
          </a:p>
          <a:p>
            <a:r>
              <a:rPr lang="en-US" dirty="0" err="1" smtClean="0">
                <a:latin typeface="Times New Roman" pitchFamily="18" charset="0"/>
                <a:cs typeface="Times New Roman" pitchFamily="18" charset="0"/>
              </a:rPr>
              <a:t>text_content</a:t>
            </a:r>
            <a:r>
              <a:rPr lang="en-US" dirty="0" smtClean="0">
                <a:latin typeface="Times New Roman" pitchFamily="18" charset="0"/>
                <a:cs typeface="Times New Roman" pitchFamily="18" charset="0"/>
              </a:rPr>
              <a:t> = </a:t>
            </a:r>
            <a:r>
              <a:rPr lang="en-US" dirty="0" err="1" smtClean="0">
                <a:latin typeface="Times New Roman" pitchFamily="18" charset="0"/>
                <a:cs typeface="Times New Roman" pitchFamily="18" charset="0"/>
              </a:rPr>
              <a:t>form.getvalue</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textcontent</a:t>
            </a:r>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else: </a:t>
            </a:r>
          </a:p>
          <a:p>
            <a:r>
              <a:rPr lang="en-US" dirty="0" err="1" smtClean="0">
                <a:latin typeface="Times New Roman" pitchFamily="18" charset="0"/>
                <a:cs typeface="Times New Roman" pitchFamily="18" charset="0"/>
              </a:rPr>
              <a:t>text_content</a:t>
            </a:r>
            <a:r>
              <a:rPr lang="en-US" dirty="0" smtClean="0">
                <a:latin typeface="Times New Roman" pitchFamily="18" charset="0"/>
                <a:cs typeface="Times New Roman" pitchFamily="18" charset="0"/>
              </a:rPr>
              <a:t> = "Not entered" </a:t>
            </a:r>
          </a:p>
          <a:p>
            <a:r>
              <a:rPr lang="en-US" dirty="0" smtClean="0">
                <a:latin typeface="Times New Roman" pitchFamily="18" charset="0"/>
                <a:cs typeface="Times New Roman" pitchFamily="18" charset="0"/>
              </a:rPr>
              <a:t>print "Content-</a:t>
            </a:r>
            <a:r>
              <a:rPr lang="en-US" dirty="0" err="1" smtClean="0">
                <a:latin typeface="Times New Roman" pitchFamily="18" charset="0"/>
                <a:cs typeface="Times New Roman" pitchFamily="18" charset="0"/>
              </a:rPr>
              <a:t>type:text</a:t>
            </a:r>
            <a:r>
              <a:rPr lang="en-US" dirty="0" smtClean="0">
                <a:latin typeface="Times New Roman" pitchFamily="18" charset="0"/>
                <a:cs typeface="Times New Roman" pitchFamily="18" charset="0"/>
              </a:rPr>
              <a:t>/html\r\n\r\n" </a:t>
            </a:r>
          </a:p>
          <a:p>
            <a:r>
              <a:rPr lang="en-US" dirty="0" smtClean="0">
                <a:latin typeface="Times New Roman" pitchFamily="18" charset="0"/>
                <a:cs typeface="Times New Roman" pitchFamily="18" charset="0"/>
              </a:rPr>
              <a:t>print "&lt;html&gt;" </a:t>
            </a:r>
          </a:p>
          <a:p>
            <a:r>
              <a:rPr lang="en-US" dirty="0" smtClean="0">
                <a:latin typeface="Times New Roman" pitchFamily="18" charset="0"/>
                <a:cs typeface="Times New Roman" pitchFamily="18" charset="0"/>
              </a:rPr>
              <a:t>print "&lt;head&gt;"; </a:t>
            </a:r>
          </a:p>
          <a:p>
            <a:r>
              <a:rPr lang="en-US" dirty="0" smtClean="0">
                <a:latin typeface="Times New Roman" pitchFamily="18" charset="0"/>
                <a:cs typeface="Times New Roman" pitchFamily="18" charset="0"/>
              </a:rPr>
              <a:t>print "&lt;title&gt;Text Area - Fifth CGI Program&lt;/title&gt;" </a:t>
            </a:r>
          </a:p>
          <a:p>
            <a:r>
              <a:rPr lang="en-US" dirty="0" smtClean="0">
                <a:latin typeface="Times New Roman" pitchFamily="18" charset="0"/>
                <a:cs typeface="Times New Roman" pitchFamily="18" charset="0"/>
              </a:rPr>
              <a:t>print "&lt;/head&gt;" </a:t>
            </a:r>
          </a:p>
          <a:p>
            <a:r>
              <a:rPr lang="en-US" dirty="0" smtClean="0">
                <a:latin typeface="Times New Roman" pitchFamily="18" charset="0"/>
                <a:cs typeface="Times New Roman" pitchFamily="18" charset="0"/>
              </a:rPr>
              <a:t>print "&lt;body&gt;" </a:t>
            </a:r>
          </a:p>
          <a:p>
            <a:r>
              <a:rPr lang="en-US" dirty="0" smtClean="0">
                <a:latin typeface="Times New Roman" pitchFamily="18" charset="0"/>
                <a:cs typeface="Times New Roman" pitchFamily="18" charset="0"/>
              </a:rPr>
              <a:t>print "&lt;h2&gt; Entered Text Content is %s&lt;/h2&gt;" % </a:t>
            </a:r>
            <a:r>
              <a:rPr lang="en-US" dirty="0" err="1" smtClean="0">
                <a:latin typeface="Times New Roman" pitchFamily="18" charset="0"/>
                <a:cs typeface="Times New Roman" pitchFamily="18" charset="0"/>
              </a:rPr>
              <a:t>text_content</a:t>
            </a:r>
            <a:r>
              <a:rPr lang="en-US" dirty="0" smtClean="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print "&lt;/body&gt;" </a:t>
            </a:r>
            <a:endParaRPr lang="en-US" dirty="0">
              <a:latin typeface="Times New Roman" pitchFamily="18" charset="0"/>
              <a:cs typeface="Times New Roman"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152400"/>
            <a:ext cx="5867400" cy="685800"/>
          </a:xfrm>
        </p:spPr>
        <p:txBody>
          <a:bodyPr>
            <a:noAutofit/>
          </a:bodyPr>
          <a:lstStyle/>
          <a:p>
            <a:r>
              <a:rPr lang="en-US" sz="2000" b="1" dirty="0" smtClean="0">
                <a:latin typeface="Times New Roman" pitchFamily="18" charset="0"/>
                <a:cs typeface="Times New Roman" pitchFamily="18" charset="0"/>
              </a:rPr>
              <a:t>Passing Drop Down Box Data to CGI </a:t>
            </a:r>
            <a:r>
              <a:rPr lang="en-US" sz="2000" b="1" dirty="0" smtClean="0">
                <a:latin typeface="Times New Roman" pitchFamily="18" charset="0"/>
                <a:cs typeface="Times New Roman" pitchFamily="18" charset="0"/>
              </a:rPr>
              <a:t>Program</a:t>
            </a:r>
            <a:endParaRPr lang="en-US" sz="2000" dirty="0">
              <a:latin typeface="Times New Roman" pitchFamily="18" charset="0"/>
              <a:cs typeface="Times New Roman" pitchFamily="18" charset="0"/>
            </a:endParaRPr>
          </a:p>
        </p:txBody>
      </p:sp>
      <p:sp>
        <p:nvSpPr>
          <p:cNvPr id="3" name="Content Placeholder 2"/>
          <p:cNvSpPr>
            <a:spLocks noGrp="1"/>
          </p:cNvSpPr>
          <p:nvPr>
            <p:ph idx="1"/>
          </p:nvPr>
        </p:nvSpPr>
        <p:spPr>
          <a:xfrm>
            <a:off x="381000" y="838200"/>
            <a:ext cx="8534400" cy="5715000"/>
          </a:xfrm>
        </p:spPr>
        <p:txBody>
          <a:bodyPr>
            <a:normAutofit fontScale="85000" lnSpcReduction="20000"/>
          </a:bodyPr>
          <a:lstStyle/>
          <a:p>
            <a:r>
              <a:rPr lang="en-US" dirty="0" smtClean="0">
                <a:latin typeface="Times New Roman" pitchFamily="18" charset="0"/>
                <a:cs typeface="Times New Roman" pitchFamily="18" charset="0"/>
              </a:rPr>
              <a:t>Drop Down Box is used when we have many options available but only one or two will be selected. </a:t>
            </a:r>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Code</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&lt;form action="/</a:t>
            </a:r>
            <a:r>
              <a:rPr lang="en-US" dirty="0" err="1" smtClean="0">
                <a:latin typeface="Times New Roman" pitchFamily="18" charset="0"/>
                <a:cs typeface="Times New Roman" pitchFamily="18" charset="0"/>
              </a:rPr>
              <a:t>cgi</a:t>
            </a:r>
            <a:r>
              <a:rPr lang="en-US" dirty="0" smtClean="0">
                <a:latin typeface="Times New Roman" pitchFamily="18" charset="0"/>
                <a:cs typeface="Times New Roman" pitchFamily="18" charset="0"/>
              </a:rPr>
              <a:t>-bin/dropdown.py" method="post" target="_blank"&gt; </a:t>
            </a:r>
          </a:p>
          <a:p>
            <a:r>
              <a:rPr lang="en-US" dirty="0" smtClean="0">
                <a:latin typeface="Times New Roman" pitchFamily="18" charset="0"/>
                <a:cs typeface="Times New Roman" pitchFamily="18" charset="0"/>
              </a:rPr>
              <a:t>&lt;select name="dropdown"&gt; </a:t>
            </a:r>
          </a:p>
          <a:p>
            <a:r>
              <a:rPr lang="en-US" dirty="0" smtClean="0">
                <a:latin typeface="Times New Roman" pitchFamily="18" charset="0"/>
                <a:cs typeface="Times New Roman" pitchFamily="18" charset="0"/>
              </a:rPr>
              <a:t>&lt;option value="</a:t>
            </a:r>
            <a:r>
              <a:rPr lang="en-US" dirty="0" err="1" smtClean="0">
                <a:latin typeface="Times New Roman" pitchFamily="18" charset="0"/>
                <a:cs typeface="Times New Roman" pitchFamily="18" charset="0"/>
              </a:rPr>
              <a:t>Maths</a:t>
            </a:r>
            <a:r>
              <a:rPr lang="en-US" dirty="0" smtClean="0">
                <a:latin typeface="Times New Roman" pitchFamily="18" charset="0"/>
                <a:cs typeface="Times New Roman" pitchFamily="18" charset="0"/>
              </a:rPr>
              <a:t>" selected&gt;</a:t>
            </a:r>
            <a:r>
              <a:rPr lang="en-US" dirty="0" err="1" smtClean="0">
                <a:latin typeface="Times New Roman" pitchFamily="18" charset="0"/>
                <a:cs typeface="Times New Roman" pitchFamily="18" charset="0"/>
              </a:rPr>
              <a:t>Maths</a:t>
            </a:r>
            <a:r>
              <a:rPr lang="en-US" dirty="0" smtClean="0">
                <a:latin typeface="Times New Roman" pitchFamily="18" charset="0"/>
                <a:cs typeface="Times New Roman" pitchFamily="18" charset="0"/>
              </a:rPr>
              <a:t>&lt;/option&gt; </a:t>
            </a:r>
          </a:p>
          <a:p>
            <a:r>
              <a:rPr lang="en-US" dirty="0" smtClean="0">
                <a:latin typeface="Times New Roman" pitchFamily="18" charset="0"/>
                <a:cs typeface="Times New Roman" pitchFamily="18" charset="0"/>
              </a:rPr>
              <a:t>&lt;option value="Physics"&gt;Physics&lt;/option&gt; </a:t>
            </a:r>
          </a:p>
          <a:p>
            <a:r>
              <a:rPr lang="en-US" dirty="0" smtClean="0">
                <a:latin typeface="Times New Roman" pitchFamily="18" charset="0"/>
                <a:cs typeface="Times New Roman" pitchFamily="18" charset="0"/>
              </a:rPr>
              <a:t>&lt;/select&gt; </a:t>
            </a:r>
          </a:p>
          <a:p>
            <a:r>
              <a:rPr lang="en-US" dirty="0" smtClean="0">
                <a:latin typeface="Times New Roman" pitchFamily="18" charset="0"/>
                <a:cs typeface="Times New Roman" pitchFamily="18" charset="0"/>
              </a:rPr>
              <a:t>&lt;input type="submit" value="Submit"/&gt; </a:t>
            </a:r>
          </a:p>
          <a:p>
            <a:r>
              <a:rPr lang="en-US" dirty="0" smtClean="0">
                <a:latin typeface="Times New Roman" pitchFamily="18" charset="0"/>
                <a:cs typeface="Times New Roman" pitchFamily="18" charset="0"/>
              </a:rPr>
              <a:t>&lt;/form&gt; </a:t>
            </a:r>
            <a:endParaRPr lang="en-US" dirty="0">
              <a:latin typeface="Times New Roman" pitchFamily="18" charset="0"/>
              <a:cs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Output</a:t>
            </a:r>
            <a:endParaRPr lang="en-US" dirty="0"/>
          </a:p>
        </p:txBody>
      </p:sp>
      <p:pic>
        <p:nvPicPr>
          <p:cNvPr id="4098" name="Picture 2" descr="D:\Softwares\Script\Python\dropdown.png"/>
          <p:cNvPicPr>
            <a:picLocks noChangeAspect="1" noChangeArrowheads="1"/>
          </p:cNvPicPr>
          <p:nvPr/>
        </p:nvPicPr>
        <p:blipFill>
          <a:blip r:embed="rId2"/>
          <a:srcRect/>
          <a:stretch>
            <a:fillRect/>
          </a:stretch>
        </p:blipFill>
        <p:spPr bwMode="auto">
          <a:xfrm>
            <a:off x="1371600" y="2057400"/>
            <a:ext cx="6019800" cy="2209800"/>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152400"/>
            <a:ext cx="4191000" cy="457200"/>
          </a:xfrm>
        </p:spPr>
        <p:txBody>
          <a:bodyPr/>
          <a:lstStyle/>
          <a:p>
            <a:r>
              <a:rPr lang="en-US" sz="2000" dirty="0" smtClean="0">
                <a:latin typeface="Times New Roman" pitchFamily="18" charset="0"/>
                <a:cs typeface="Times New Roman" pitchFamily="18" charset="0"/>
              </a:rPr>
              <a:t>Program</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304800" y="685800"/>
            <a:ext cx="8839200" cy="5943600"/>
          </a:xfrm>
        </p:spPr>
        <p:txBody>
          <a:bodyPr>
            <a:normAutofit fontScale="62500" lnSpcReduction="20000"/>
          </a:bodyPr>
          <a:lstStyle/>
          <a:p>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usr</a:t>
            </a:r>
            <a:r>
              <a:rPr lang="en-US" dirty="0" smtClean="0">
                <a:latin typeface="Times New Roman" pitchFamily="18" charset="0"/>
                <a:cs typeface="Times New Roman" pitchFamily="18" charset="0"/>
              </a:rPr>
              <a:t>/bin/python </a:t>
            </a:r>
          </a:p>
          <a:p>
            <a:r>
              <a:rPr lang="en-US" dirty="0" smtClean="0">
                <a:latin typeface="Times New Roman" pitchFamily="18" charset="0"/>
                <a:cs typeface="Times New Roman" pitchFamily="18" charset="0"/>
              </a:rPr>
              <a:t># Import modules for CGI handling </a:t>
            </a:r>
          </a:p>
          <a:p>
            <a:r>
              <a:rPr lang="en-US" dirty="0" smtClean="0">
                <a:latin typeface="Times New Roman" pitchFamily="18" charset="0"/>
                <a:cs typeface="Times New Roman" pitchFamily="18" charset="0"/>
              </a:rPr>
              <a:t>import </a:t>
            </a:r>
            <a:r>
              <a:rPr lang="en-US" dirty="0" err="1" smtClean="0">
                <a:latin typeface="Times New Roman" pitchFamily="18" charset="0"/>
                <a:cs typeface="Times New Roman" pitchFamily="18" charset="0"/>
              </a:rPr>
              <a:t>cgi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cgitb</a:t>
            </a:r>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 Create instance of </a:t>
            </a:r>
            <a:r>
              <a:rPr lang="en-US" dirty="0" err="1" smtClean="0">
                <a:latin typeface="Times New Roman" pitchFamily="18" charset="0"/>
                <a:cs typeface="Times New Roman" pitchFamily="18" charset="0"/>
              </a:rPr>
              <a:t>FieldStorage</a:t>
            </a:r>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form = </a:t>
            </a:r>
            <a:r>
              <a:rPr lang="en-US" dirty="0" err="1" smtClean="0">
                <a:latin typeface="Times New Roman" pitchFamily="18" charset="0"/>
                <a:cs typeface="Times New Roman" pitchFamily="18" charset="0"/>
              </a:rPr>
              <a:t>cgi.FieldStorage</a:t>
            </a:r>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 Get data from fields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if </a:t>
            </a:r>
            <a:r>
              <a:rPr lang="en-US" dirty="0" err="1" smtClean="0">
                <a:latin typeface="Times New Roman" pitchFamily="18" charset="0"/>
                <a:cs typeface="Times New Roman" pitchFamily="18" charset="0"/>
              </a:rPr>
              <a:t>form.getvalue</a:t>
            </a:r>
            <a:r>
              <a:rPr lang="en-US" dirty="0" smtClean="0">
                <a:latin typeface="Times New Roman" pitchFamily="18" charset="0"/>
                <a:cs typeface="Times New Roman" pitchFamily="18" charset="0"/>
              </a:rPr>
              <a:t>('dropdown'): </a:t>
            </a:r>
          </a:p>
          <a:p>
            <a:r>
              <a:rPr lang="en-US" dirty="0" smtClean="0">
                <a:latin typeface="Times New Roman" pitchFamily="18" charset="0"/>
                <a:cs typeface="Times New Roman" pitchFamily="18" charset="0"/>
              </a:rPr>
              <a:t>subject = </a:t>
            </a:r>
            <a:r>
              <a:rPr lang="en-US" dirty="0" err="1" smtClean="0">
                <a:latin typeface="Times New Roman" pitchFamily="18" charset="0"/>
                <a:cs typeface="Times New Roman" pitchFamily="18" charset="0"/>
              </a:rPr>
              <a:t>form.getvalue</a:t>
            </a:r>
            <a:r>
              <a:rPr lang="en-US" dirty="0" smtClean="0">
                <a:latin typeface="Times New Roman" pitchFamily="18" charset="0"/>
                <a:cs typeface="Times New Roman" pitchFamily="18" charset="0"/>
              </a:rPr>
              <a:t>('dropdown') </a:t>
            </a:r>
          </a:p>
          <a:p>
            <a:r>
              <a:rPr lang="en-US" dirty="0" smtClean="0">
                <a:latin typeface="Times New Roman" pitchFamily="18" charset="0"/>
                <a:cs typeface="Times New Roman" pitchFamily="18" charset="0"/>
              </a:rPr>
              <a:t>else: </a:t>
            </a:r>
          </a:p>
          <a:p>
            <a:r>
              <a:rPr lang="en-US" dirty="0" smtClean="0">
                <a:latin typeface="Times New Roman" pitchFamily="18" charset="0"/>
                <a:cs typeface="Times New Roman" pitchFamily="18" charset="0"/>
              </a:rPr>
              <a:t>subject = "Not entered" </a:t>
            </a:r>
          </a:p>
          <a:p>
            <a:r>
              <a:rPr lang="en-US" dirty="0" smtClean="0">
                <a:latin typeface="Times New Roman" pitchFamily="18" charset="0"/>
                <a:cs typeface="Times New Roman" pitchFamily="18" charset="0"/>
              </a:rPr>
              <a:t>print "Content-</a:t>
            </a:r>
            <a:r>
              <a:rPr lang="en-US" dirty="0" err="1" smtClean="0">
                <a:latin typeface="Times New Roman" pitchFamily="18" charset="0"/>
                <a:cs typeface="Times New Roman" pitchFamily="18" charset="0"/>
              </a:rPr>
              <a:t>type:text</a:t>
            </a:r>
            <a:r>
              <a:rPr lang="en-US" dirty="0" smtClean="0">
                <a:latin typeface="Times New Roman" pitchFamily="18" charset="0"/>
                <a:cs typeface="Times New Roman" pitchFamily="18" charset="0"/>
              </a:rPr>
              <a:t>/html\r\n\r\n" </a:t>
            </a:r>
          </a:p>
          <a:p>
            <a:r>
              <a:rPr lang="en-US" dirty="0" smtClean="0">
                <a:latin typeface="Times New Roman" pitchFamily="18" charset="0"/>
                <a:cs typeface="Times New Roman" pitchFamily="18" charset="0"/>
              </a:rPr>
              <a:t>print "&lt;html&gt;" </a:t>
            </a:r>
          </a:p>
          <a:p>
            <a:r>
              <a:rPr lang="en-US" dirty="0" smtClean="0">
                <a:latin typeface="Times New Roman" pitchFamily="18" charset="0"/>
                <a:cs typeface="Times New Roman" pitchFamily="18" charset="0"/>
              </a:rPr>
              <a:t>print "&lt;head&gt;" </a:t>
            </a:r>
          </a:p>
          <a:p>
            <a:r>
              <a:rPr lang="en-US" dirty="0" smtClean="0">
                <a:latin typeface="Times New Roman" pitchFamily="18" charset="0"/>
                <a:cs typeface="Times New Roman" pitchFamily="18" charset="0"/>
              </a:rPr>
              <a:t>print "&lt;title&gt;Dropdown Box - Sixth CGI Program&lt;/title&gt;" </a:t>
            </a:r>
          </a:p>
          <a:p>
            <a:r>
              <a:rPr lang="en-US" dirty="0" smtClean="0">
                <a:latin typeface="Times New Roman" pitchFamily="18" charset="0"/>
                <a:cs typeface="Times New Roman" pitchFamily="18" charset="0"/>
              </a:rPr>
              <a:t>print "&lt;/head&gt;" </a:t>
            </a:r>
          </a:p>
          <a:p>
            <a:r>
              <a:rPr lang="en-US" dirty="0" smtClean="0">
                <a:latin typeface="Times New Roman" pitchFamily="18" charset="0"/>
                <a:cs typeface="Times New Roman" pitchFamily="18" charset="0"/>
              </a:rPr>
              <a:t>print "&lt;body&gt;" </a:t>
            </a:r>
          </a:p>
          <a:p>
            <a:r>
              <a:rPr lang="en-US" dirty="0" smtClean="0">
                <a:latin typeface="Times New Roman" pitchFamily="18" charset="0"/>
                <a:cs typeface="Times New Roman" pitchFamily="18" charset="0"/>
              </a:rPr>
              <a:t>print "&lt;h2&gt; Selected Subject is %s&lt;/h2&gt;" % subject </a:t>
            </a:r>
          </a:p>
          <a:p>
            <a:r>
              <a:rPr lang="en-US" dirty="0" smtClean="0">
                <a:latin typeface="Times New Roman" pitchFamily="18" charset="0"/>
                <a:cs typeface="Times New Roman" pitchFamily="18" charset="0"/>
              </a:rPr>
              <a:t>print "&lt;/body&gt;" </a:t>
            </a:r>
          </a:p>
          <a:p>
            <a:r>
              <a:rPr lang="en-US" dirty="0" smtClean="0">
                <a:latin typeface="Times New Roman" pitchFamily="18" charset="0"/>
                <a:cs typeface="Times New Roman" pitchFamily="18" charset="0"/>
              </a:rPr>
              <a:t>print "&lt;/html&gt;" </a:t>
            </a:r>
            <a:endParaRPr lang="en-US" dirty="0">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0800" y="152400"/>
            <a:ext cx="4572000" cy="457200"/>
          </a:xfrm>
        </p:spPr>
        <p:txBody>
          <a:bodyPr>
            <a:normAutofit/>
          </a:bodyPr>
          <a:lstStyle/>
          <a:p>
            <a:r>
              <a:rPr lang="en-US" sz="2400" b="1" dirty="0" smtClean="0">
                <a:latin typeface="Times New Roman" pitchFamily="18" charset="0"/>
                <a:cs typeface="Times New Roman" pitchFamily="18" charset="0"/>
              </a:rPr>
              <a:t>Using Cookies in CGI </a:t>
            </a:r>
            <a:endParaRPr lang="en-US" sz="24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762000"/>
            <a:ext cx="8229600" cy="5638800"/>
          </a:xfrm>
        </p:spPr>
        <p:txBody>
          <a:bodyPr>
            <a:normAutofit/>
          </a:bodyPr>
          <a:lstStyle/>
          <a:p>
            <a:r>
              <a:rPr lang="en-US" sz="2800" dirty="0" smtClean="0">
                <a:latin typeface="Times New Roman" pitchFamily="18" charset="0"/>
                <a:cs typeface="Times New Roman" pitchFamily="18" charset="0"/>
              </a:rPr>
              <a:t>HTTP protocol is a stateless protocol. For a commercial website, it is required to maintain session information among different pages. For example, one user registration ends after completing many pages. </a:t>
            </a:r>
            <a:endParaRPr lang="en-US" sz="2800" dirty="0" smtClean="0">
              <a:latin typeface="Times New Roman" pitchFamily="18" charset="0"/>
              <a:cs typeface="Times New Roman" pitchFamily="18" charset="0"/>
            </a:endParaRPr>
          </a:p>
          <a:p>
            <a:pPr>
              <a:buNone/>
            </a:pPr>
            <a:endParaRPr lang="en-US" sz="2800" dirty="0" smtClean="0">
              <a:latin typeface="Times New Roman" pitchFamily="18" charset="0"/>
              <a:cs typeface="Times New Roman" pitchFamily="18" charset="0"/>
            </a:endParaRPr>
          </a:p>
          <a:p>
            <a:r>
              <a:rPr lang="en-US" sz="2800" b="1" dirty="0" smtClean="0">
                <a:latin typeface="Times New Roman" pitchFamily="18" charset="0"/>
                <a:cs typeface="Times New Roman" pitchFamily="18" charset="0"/>
              </a:rPr>
              <a:t>How It Works? </a:t>
            </a:r>
            <a:endParaRPr lang="en-US" sz="2800" b="1" dirty="0" smtClean="0">
              <a:latin typeface="Times New Roman" pitchFamily="18" charset="0"/>
              <a:cs typeface="Times New Roman" pitchFamily="18" charset="0"/>
            </a:endParaRPr>
          </a:p>
          <a:p>
            <a:endParaRPr lang="en-US" sz="2800" b="1"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The browser may accept the cookie. If it does, it is stored as a plain text record on the visitor's hard drive. </a:t>
            </a:r>
            <a:endParaRPr lang="en-US" sz="2800" dirty="0">
              <a:latin typeface="Times New Roman" pitchFamily="18" charset="0"/>
              <a:cs typeface="Times New Roman"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791200"/>
          </a:xfrm>
        </p:spPr>
        <p:txBody>
          <a:bodyPr>
            <a:normAutofit fontScale="77500" lnSpcReduction="20000"/>
          </a:bodyPr>
          <a:lstStyle/>
          <a:p>
            <a:endParaRPr lang="en-US" sz="3000" dirty="0" smtClean="0">
              <a:latin typeface="Times New Roman" pitchFamily="18" charset="0"/>
              <a:cs typeface="Times New Roman" pitchFamily="18" charset="0"/>
            </a:endParaRPr>
          </a:p>
          <a:p>
            <a:r>
              <a:rPr lang="en-US" sz="3000" dirty="0" smtClean="0">
                <a:latin typeface="Times New Roman" pitchFamily="18" charset="0"/>
                <a:cs typeface="Times New Roman" pitchFamily="18" charset="0"/>
              </a:rPr>
              <a:t> </a:t>
            </a:r>
            <a:r>
              <a:rPr lang="en-US" sz="3000" dirty="0" smtClean="0">
                <a:latin typeface="Times New Roman" pitchFamily="18" charset="0"/>
                <a:cs typeface="Times New Roman" pitchFamily="18" charset="0"/>
              </a:rPr>
              <a:t>Expires: The date the cookie will expire. If this is blank, the cookie will expire when the visitor quits the browser. </a:t>
            </a:r>
            <a:endParaRPr lang="en-US" sz="3000" dirty="0" smtClean="0">
              <a:latin typeface="Times New Roman" pitchFamily="18" charset="0"/>
              <a:cs typeface="Times New Roman" pitchFamily="18" charset="0"/>
            </a:endParaRPr>
          </a:p>
          <a:p>
            <a:endParaRPr lang="en-US" sz="3000" dirty="0" smtClean="0">
              <a:latin typeface="Times New Roman" pitchFamily="18" charset="0"/>
              <a:cs typeface="Times New Roman" pitchFamily="18" charset="0"/>
            </a:endParaRPr>
          </a:p>
          <a:p>
            <a:r>
              <a:rPr lang="en-US" sz="3000" dirty="0" smtClean="0">
                <a:latin typeface="Times New Roman" pitchFamily="18" charset="0"/>
                <a:cs typeface="Times New Roman" pitchFamily="18" charset="0"/>
              </a:rPr>
              <a:t> </a:t>
            </a:r>
            <a:r>
              <a:rPr lang="en-US" sz="3000" dirty="0" smtClean="0">
                <a:latin typeface="Times New Roman" pitchFamily="18" charset="0"/>
                <a:cs typeface="Times New Roman" pitchFamily="18" charset="0"/>
              </a:rPr>
              <a:t>Domain: The domain name of your site. </a:t>
            </a:r>
            <a:endParaRPr lang="en-US" sz="3000" dirty="0" smtClean="0">
              <a:latin typeface="Times New Roman" pitchFamily="18" charset="0"/>
              <a:cs typeface="Times New Roman" pitchFamily="18" charset="0"/>
            </a:endParaRPr>
          </a:p>
          <a:p>
            <a:endParaRPr lang="en-US" sz="3000" dirty="0" smtClean="0">
              <a:latin typeface="Times New Roman" pitchFamily="18" charset="0"/>
              <a:cs typeface="Times New Roman" pitchFamily="18" charset="0"/>
            </a:endParaRPr>
          </a:p>
          <a:p>
            <a:r>
              <a:rPr lang="en-US" sz="3000" dirty="0" smtClean="0">
                <a:latin typeface="Times New Roman" pitchFamily="18" charset="0"/>
                <a:cs typeface="Times New Roman" pitchFamily="18" charset="0"/>
              </a:rPr>
              <a:t> </a:t>
            </a:r>
            <a:r>
              <a:rPr lang="en-US" sz="3000" dirty="0" smtClean="0">
                <a:latin typeface="Times New Roman" pitchFamily="18" charset="0"/>
                <a:cs typeface="Times New Roman" pitchFamily="18" charset="0"/>
              </a:rPr>
              <a:t>Path: The path to the directory or web page that sets the cookie. This may be blank if you want to retrieve the cookie from any directory or page. </a:t>
            </a:r>
            <a:endParaRPr lang="en-US" sz="3000" dirty="0" smtClean="0">
              <a:latin typeface="Times New Roman" pitchFamily="18" charset="0"/>
              <a:cs typeface="Times New Roman" pitchFamily="18" charset="0"/>
            </a:endParaRPr>
          </a:p>
          <a:p>
            <a:endParaRPr lang="en-US" sz="3000" dirty="0" smtClean="0">
              <a:latin typeface="Times New Roman" pitchFamily="18" charset="0"/>
              <a:cs typeface="Times New Roman" pitchFamily="18" charset="0"/>
            </a:endParaRPr>
          </a:p>
          <a:p>
            <a:r>
              <a:rPr lang="en-US" sz="3000" dirty="0" smtClean="0">
                <a:latin typeface="Times New Roman" pitchFamily="18" charset="0"/>
                <a:cs typeface="Times New Roman" pitchFamily="18" charset="0"/>
              </a:rPr>
              <a:t> </a:t>
            </a:r>
            <a:r>
              <a:rPr lang="en-US" sz="3000" dirty="0" smtClean="0">
                <a:latin typeface="Times New Roman" pitchFamily="18" charset="0"/>
                <a:cs typeface="Times New Roman" pitchFamily="18" charset="0"/>
              </a:rPr>
              <a:t>Secure: If this field contains the word "secure", then the cookie may only be retrieved with a secure server. If this field is blank, no such restriction exists. </a:t>
            </a:r>
            <a:endParaRPr lang="en-US" sz="3000" dirty="0" smtClean="0">
              <a:latin typeface="Times New Roman" pitchFamily="18" charset="0"/>
              <a:cs typeface="Times New Roman" pitchFamily="18" charset="0"/>
            </a:endParaRPr>
          </a:p>
          <a:p>
            <a:endParaRPr lang="en-US" sz="3000" dirty="0" smtClean="0">
              <a:latin typeface="Times New Roman" pitchFamily="18" charset="0"/>
              <a:cs typeface="Times New Roman" pitchFamily="18" charset="0"/>
            </a:endParaRPr>
          </a:p>
          <a:p>
            <a:r>
              <a:rPr lang="en-US" sz="3000" dirty="0" smtClean="0">
                <a:latin typeface="Times New Roman" pitchFamily="18" charset="0"/>
                <a:cs typeface="Times New Roman" pitchFamily="18" charset="0"/>
              </a:rPr>
              <a:t> </a:t>
            </a:r>
            <a:r>
              <a:rPr lang="en-US" sz="3000" dirty="0" smtClean="0">
                <a:latin typeface="Times New Roman" pitchFamily="18" charset="0"/>
                <a:cs typeface="Times New Roman" pitchFamily="18" charset="0"/>
              </a:rPr>
              <a:t>Name=Value: Cookies are set and retrieved in the form of key and value pairs. </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Retrieving Cookies </a:t>
            </a:r>
            <a:endParaRPr lang="en-US" dirty="0"/>
          </a:p>
        </p:txBody>
      </p:sp>
      <p:sp>
        <p:nvSpPr>
          <p:cNvPr id="3" name="Content Placeholder 2"/>
          <p:cNvSpPr>
            <a:spLocks noGrp="1"/>
          </p:cNvSpPr>
          <p:nvPr>
            <p:ph idx="1"/>
          </p:nvPr>
        </p:nvSpPr>
        <p:spPr/>
        <p:txBody>
          <a:bodyPr/>
          <a:lstStyle/>
          <a:p>
            <a:r>
              <a:rPr lang="en-US" dirty="0" smtClean="0"/>
              <a:t>It is very easy to retrieve all the set cookies. Cookies are stored in CGI environment variable HTTP_COOKIE and they will have following form: </a:t>
            </a:r>
            <a:endParaRPr lang="en-US" dirty="0" smtClean="0"/>
          </a:p>
          <a:p>
            <a:endParaRPr lang="en-US" dirty="0" smtClean="0"/>
          </a:p>
          <a:p>
            <a:r>
              <a:rPr lang="en-US" dirty="0" smtClean="0"/>
              <a:t>key1=value1;key2=value2;key3=value3.... </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2200" y="152400"/>
            <a:ext cx="5029200" cy="533400"/>
          </a:xfrm>
        </p:spPr>
        <p:txBody>
          <a:bodyPr>
            <a:normAutofit/>
          </a:bodyPr>
          <a:lstStyle/>
          <a:p>
            <a:r>
              <a:rPr lang="en-US" sz="2800" dirty="0" smtClean="0">
                <a:latin typeface="Times New Roman" pitchFamily="18" charset="0"/>
                <a:cs typeface="Times New Roman" pitchFamily="18" charset="0"/>
              </a:rPr>
              <a:t>program</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838200"/>
            <a:ext cx="8229600" cy="5638800"/>
          </a:xfrm>
        </p:spPr>
        <p:txBody>
          <a:bodyPr>
            <a:normAutofit fontScale="77500" lnSpcReduction="20000"/>
          </a:bodyPr>
          <a:lstStyle/>
          <a:p>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usr</a:t>
            </a:r>
            <a:r>
              <a:rPr lang="en-US" dirty="0" smtClean="0">
                <a:latin typeface="Times New Roman" pitchFamily="18" charset="0"/>
                <a:cs typeface="Times New Roman" pitchFamily="18" charset="0"/>
              </a:rPr>
              <a:t>/bin/python </a:t>
            </a:r>
          </a:p>
          <a:p>
            <a:r>
              <a:rPr lang="en-US" dirty="0" smtClean="0">
                <a:latin typeface="Times New Roman" pitchFamily="18" charset="0"/>
                <a:cs typeface="Times New Roman" pitchFamily="18" charset="0"/>
              </a:rPr>
              <a:t># Import modules for CGI handling </a:t>
            </a:r>
          </a:p>
          <a:p>
            <a:r>
              <a:rPr lang="en-US" dirty="0" smtClean="0">
                <a:latin typeface="Times New Roman" pitchFamily="18" charset="0"/>
                <a:cs typeface="Times New Roman" pitchFamily="18" charset="0"/>
              </a:rPr>
              <a:t>from </a:t>
            </a:r>
            <a:r>
              <a:rPr lang="en-US" dirty="0" err="1" smtClean="0">
                <a:latin typeface="Times New Roman" pitchFamily="18" charset="0"/>
                <a:cs typeface="Times New Roman" pitchFamily="18" charset="0"/>
              </a:rPr>
              <a:t>os</a:t>
            </a:r>
            <a:r>
              <a:rPr lang="en-US" dirty="0" smtClean="0">
                <a:latin typeface="Times New Roman" pitchFamily="18" charset="0"/>
                <a:cs typeface="Times New Roman" pitchFamily="18" charset="0"/>
              </a:rPr>
              <a:t> import environ </a:t>
            </a:r>
          </a:p>
          <a:p>
            <a:r>
              <a:rPr lang="en-US" dirty="0" smtClean="0">
                <a:latin typeface="Times New Roman" pitchFamily="18" charset="0"/>
                <a:cs typeface="Times New Roman" pitchFamily="18" charset="0"/>
              </a:rPr>
              <a:t>import </a:t>
            </a:r>
            <a:r>
              <a:rPr lang="en-US" dirty="0" err="1" smtClean="0">
                <a:latin typeface="Times New Roman" pitchFamily="18" charset="0"/>
                <a:cs typeface="Times New Roman" pitchFamily="18" charset="0"/>
              </a:rPr>
              <a:t>cgi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cgitb</a:t>
            </a:r>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if </a:t>
            </a:r>
            <a:r>
              <a:rPr lang="en-US" dirty="0" err="1" smtClean="0">
                <a:latin typeface="Times New Roman" pitchFamily="18" charset="0"/>
                <a:cs typeface="Times New Roman" pitchFamily="18" charset="0"/>
              </a:rPr>
              <a:t>environ.has_key</a:t>
            </a:r>
            <a:r>
              <a:rPr lang="en-US" dirty="0" smtClean="0">
                <a:latin typeface="Times New Roman" pitchFamily="18" charset="0"/>
                <a:cs typeface="Times New Roman" pitchFamily="18" charset="0"/>
              </a:rPr>
              <a:t>('HTTP_COOKIE'): </a:t>
            </a:r>
          </a:p>
          <a:p>
            <a:r>
              <a:rPr lang="en-US" dirty="0" smtClean="0">
                <a:latin typeface="Times New Roman" pitchFamily="18" charset="0"/>
                <a:cs typeface="Times New Roman" pitchFamily="18" charset="0"/>
              </a:rPr>
              <a:t>for cookie in map(strip, split(environ['HTTP_COOKIE'], ';')): </a:t>
            </a:r>
          </a:p>
          <a:p>
            <a:r>
              <a:rPr lang="en-US" dirty="0" smtClean="0">
                <a:latin typeface="Times New Roman" pitchFamily="18" charset="0"/>
                <a:cs typeface="Times New Roman" pitchFamily="18" charset="0"/>
              </a:rPr>
              <a:t>(key, value ) = split(cookie, '='); </a:t>
            </a:r>
          </a:p>
          <a:p>
            <a:r>
              <a:rPr lang="en-US" dirty="0" smtClean="0">
                <a:latin typeface="Times New Roman" pitchFamily="18" charset="0"/>
                <a:cs typeface="Times New Roman" pitchFamily="18" charset="0"/>
              </a:rPr>
              <a:t>if key == "</a:t>
            </a:r>
            <a:r>
              <a:rPr lang="en-US" dirty="0" err="1" smtClean="0">
                <a:latin typeface="Times New Roman" pitchFamily="18" charset="0"/>
                <a:cs typeface="Times New Roman" pitchFamily="18" charset="0"/>
              </a:rPr>
              <a:t>UserID</a:t>
            </a:r>
            <a:r>
              <a:rPr lang="en-US" dirty="0" smtClean="0">
                <a:latin typeface="Times New Roman" pitchFamily="18" charset="0"/>
                <a:cs typeface="Times New Roman" pitchFamily="18" charset="0"/>
              </a:rPr>
              <a:t>": </a:t>
            </a:r>
          </a:p>
          <a:p>
            <a:r>
              <a:rPr lang="en-US" dirty="0" err="1" smtClean="0">
                <a:latin typeface="Times New Roman" pitchFamily="18" charset="0"/>
                <a:cs typeface="Times New Roman" pitchFamily="18" charset="0"/>
              </a:rPr>
              <a:t>user_id</a:t>
            </a:r>
            <a:r>
              <a:rPr lang="en-US" dirty="0" smtClean="0">
                <a:latin typeface="Times New Roman" pitchFamily="18" charset="0"/>
                <a:cs typeface="Times New Roman" pitchFamily="18" charset="0"/>
              </a:rPr>
              <a:t> = value </a:t>
            </a:r>
          </a:p>
          <a:p>
            <a:r>
              <a:rPr lang="en-US" dirty="0" smtClean="0">
                <a:latin typeface="Times New Roman" pitchFamily="18" charset="0"/>
                <a:cs typeface="Times New Roman" pitchFamily="18" charset="0"/>
              </a:rPr>
              <a:t>if key == "Password": </a:t>
            </a:r>
          </a:p>
          <a:p>
            <a:r>
              <a:rPr lang="en-US" dirty="0" smtClean="0">
                <a:latin typeface="Times New Roman" pitchFamily="18" charset="0"/>
                <a:cs typeface="Times New Roman" pitchFamily="18" charset="0"/>
              </a:rPr>
              <a:t>password = value </a:t>
            </a:r>
          </a:p>
          <a:p>
            <a:r>
              <a:rPr lang="en-US" dirty="0" smtClean="0">
                <a:latin typeface="Times New Roman" pitchFamily="18" charset="0"/>
                <a:cs typeface="Times New Roman" pitchFamily="18" charset="0"/>
              </a:rPr>
              <a:t>print "User ID = %s" % </a:t>
            </a:r>
            <a:r>
              <a:rPr lang="en-US" dirty="0" err="1" smtClean="0">
                <a:latin typeface="Times New Roman" pitchFamily="18" charset="0"/>
                <a:cs typeface="Times New Roman" pitchFamily="18" charset="0"/>
              </a:rPr>
              <a:t>user_id</a:t>
            </a:r>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print "Password = %s" % password </a:t>
            </a:r>
            <a:endParaRPr lang="en-US" dirty="0">
              <a:latin typeface="Times New Roman" pitchFamily="18" charset="0"/>
              <a:cs typeface="Times New Roman"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Output</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1524000" y="2209800"/>
            <a:ext cx="6400800" cy="2819400"/>
          </a:xfrm>
        </p:spPr>
        <p:txBody>
          <a:bodyPr/>
          <a:lstStyle/>
          <a:p>
            <a:r>
              <a:rPr lang="en-US" dirty="0" smtClean="0"/>
              <a:t>User ID = XYZ </a:t>
            </a:r>
          </a:p>
          <a:p>
            <a:r>
              <a:rPr lang="en-US" dirty="0" smtClean="0"/>
              <a:t>Password = XYZ123 </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2200" y="152400"/>
            <a:ext cx="4572000" cy="762000"/>
          </a:xfrm>
        </p:spPr>
        <p:txBody>
          <a:bodyPr>
            <a:normAutofit/>
          </a:bodyPr>
          <a:lstStyle/>
          <a:p>
            <a:r>
              <a:rPr lang="en-US" sz="2400" b="1" dirty="0" smtClean="0">
                <a:latin typeface="Times New Roman" pitchFamily="18" charset="0"/>
                <a:cs typeface="Times New Roman" pitchFamily="18" charset="0"/>
              </a:rPr>
              <a:t>File </a:t>
            </a:r>
            <a:r>
              <a:rPr lang="en-US" sz="2400" b="1" dirty="0" smtClean="0">
                <a:latin typeface="Times New Roman" pitchFamily="18" charset="0"/>
                <a:cs typeface="Times New Roman" pitchFamily="18" charset="0"/>
              </a:rPr>
              <a:t>Upload </a:t>
            </a:r>
            <a:r>
              <a:rPr lang="en-US" sz="2400" b="1" dirty="0" smtClean="0">
                <a:latin typeface="Times New Roman" pitchFamily="18" charset="0"/>
                <a:cs typeface="Times New Roman" pitchFamily="18" charset="0"/>
              </a:rPr>
              <a:t>Example</a:t>
            </a:r>
            <a:endParaRPr lang="en-US" sz="24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838200"/>
            <a:ext cx="8229600" cy="5638800"/>
          </a:xfrm>
        </p:spPr>
        <p:txBody>
          <a:bodyPr>
            <a:normAutofit fontScale="77500" lnSpcReduction="20000"/>
          </a:bodyPr>
          <a:lstStyle/>
          <a:p>
            <a:r>
              <a:rPr lang="en-US" dirty="0" smtClean="0">
                <a:latin typeface="Times New Roman" pitchFamily="18" charset="0"/>
                <a:cs typeface="Times New Roman" pitchFamily="18" charset="0"/>
              </a:rPr>
              <a:t>To upload a file, the HTML form must have the </a:t>
            </a:r>
            <a:r>
              <a:rPr lang="en-US" dirty="0" err="1" smtClean="0">
                <a:latin typeface="Times New Roman" pitchFamily="18" charset="0"/>
                <a:cs typeface="Times New Roman" pitchFamily="18" charset="0"/>
              </a:rPr>
              <a:t>enctype</a:t>
            </a:r>
            <a:r>
              <a:rPr lang="en-US" dirty="0" smtClean="0">
                <a:latin typeface="Times New Roman" pitchFamily="18" charset="0"/>
                <a:cs typeface="Times New Roman" pitchFamily="18" charset="0"/>
              </a:rPr>
              <a:t> attribute set to multipart/form-data. The input tag with the file type creates a "Browse" button. </a:t>
            </a:r>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Program</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&lt;html&gt; </a:t>
            </a:r>
            <a:r>
              <a:rPr lang="en-US" dirty="0" smtClean="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&lt;body&gt; </a:t>
            </a:r>
          </a:p>
          <a:p>
            <a:r>
              <a:rPr lang="en-US" dirty="0" smtClean="0">
                <a:latin typeface="Times New Roman" pitchFamily="18" charset="0"/>
                <a:cs typeface="Times New Roman" pitchFamily="18" charset="0"/>
              </a:rPr>
              <a:t>&lt;form </a:t>
            </a:r>
            <a:r>
              <a:rPr lang="en-US" dirty="0" err="1" smtClean="0">
                <a:latin typeface="Times New Roman" pitchFamily="18" charset="0"/>
                <a:cs typeface="Times New Roman" pitchFamily="18" charset="0"/>
              </a:rPr>
              <a:t>enctype</a:t>
            </a:r>
            <a:r>
              <a:rPr lang="en-US" dirty="0" smtClean="0">
                <a:latin typeface="Times New Roman" pitchFamily="18" charset="0"/>
                <a:cs typeface="Times New Roman" pitchFamily="18" charset="0"/>
              </a:rPr>
              <a:t>="multipart/form-data" </a:t>
            </a:r>
          </a:p>
          <a:p>
            <a:r>
              <a:rPr lang="en-US" dirty="0" smtClean="0">
                <a:latin typeface="Times New Roman" pitchFamily="18" charset="0"/>
                <a:cs typeface="Times New Roman" pitchFamily="18" charset="0"/>
              </a:rPr>
              <a:t>action="save_file.py" method="post"&gt; </a:t>
            </a:r>
          </a:p>
          <a:p>
            <a:r>
              <a:rPr lang="en-US" dirty="0" smtClean="0">
                <a:latin typeface="Times New Roman" pitchFamily="18" charset="0"/>
                <a:cs typeface="Times New Roman" pitchFamily="18" charset="0"/>
              </a:rPr>
              <a:t>&lt;p&gt;File: &lt;input type="file" name="filename" /&gt;&lt;/p&gt; </a:t>
            </a:r>
          </a:p>
          <a:p>
            <a:r>
              <a:rPr lang="en-US" dirty="0" smtClean="0">
                <a:latin typeface="Times New Roman" pitchFamily="18" charset="0"/>
                <a:cs typeface="Times New Roman" pitchFamily="18" charset="0"/>
              </a:rPr>
              <a:t>&lt;p&gt;&lt;input type="submit" value="Upload" /&gt;&lt;/p&gt; </a:t>
            </a:r>
          </a:p>
          <a:p>
            <a:r>
              <a:rPr lang="en-US" dirty="0" smtClean="0">
                <a:latin typeface="Times New Roman" pitchFamily="18" charset="0"/>
                <a:cs typeface="Times New Roman" pitchFamily="18" charset="0"/>
              </a:rPr>
              <a:t>&lt;/form&gt; </a:t>
            </a:r>
          </a:p>
          <a:p>
            <a:r>
              <a:rPr lang="en-US" dirty="0" smtClean="0">
                <a:latin typeface="Times New Roman" pitchFamily="18" charset="0"/>
                <a:cs typeface="Times New Roman" pitchFamily="18" charset="0"/>
              </a:rPr>
              <a:t>&lt;/body&gt; </a:t>
            </a:r>
          </a:p>
          <a:p>
            <a:r>
              <a:rPr lang="en-US" dirty="0" smtClean="0">
                <a:latin typeface="Times New Roman" pitchFamily="18" charset="0"/>
                <a:cs typeface="Times New Roman" pitchFamily="18" charset="0"/>
              </a:rPr>
              <a:t>&lt;/html&gt; </a:t>
            </a:r>
            <a:endParaRPr lang="en-US" dirty="0">
              <a:latin typeface="Times New Roman" pitchFamily="18" charset="0"/>
              <a:cs typeface="Times New Roman"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latin typeface="Times New Roman" pitchFamily="18" charset="0"/>
                <a:cs typeface="Times New Roman" pitchFamily="18" charset="0"/>
              </a:rPr>
              <a:t>Output</a:t>
            </a:r>
            <a:endParaRPr lang="en-US" sz="4000" dirty="0">
              <a:latin typeface="Times New Roman" pitchFamily="18" charset="0"/>
              <a:cs typeface="Times New Roman" pitchFamily="18" charset="0"/>
            </a:endParaRPr>
          </a:p>
        </p:txBody>
      </p:sp>
      <p:pic>
        <p:nvPicPr>
          <p:cNvPr id="5122" name="Picture 2" descr="D:\Softwares\Script\Python\Upload.png"/>
          <p:cNvPicPr>
            <a:picLocks noChangeAspect="1" noChangeArrowheads="1"/>
          </p:cNvPicPr>
          <p:nvPr/>
        </p:nvPicPr>
        <p:blipFill>
          <a:blip r:embed="rId2"/>
          <a:srcRect/>
          <a:stretch>
            <a:fillRect/>
          </a:stretch>
        </p:blipFill>
        <p:spPr bwMode="auto">
          <a:xfrm>
            <a:off x="1066800" y="2057400"/>
            <a:ext cx="6858000" cy="2895600"/>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2200" y="228600"/>
            <a:ext cx="4572000" cy="533400"/>
          </a:xfrm>
        </p:spPr>
        <p:txBody>
          <a:bodyPr>
            <a:normAutofit/>
          </a:bodyPr>
          <a:lstStyle/>
          <a:p>
            <a:r>
              <a:rPr lang="en-US" sz="2800" dirty="0" smtClean="0">
                <a:latin typeface="Times New Roman" pitchFamily="18" charset="0"/>
                <a:cs typeface="Times New Roman" pitchFamily="18" charset="0"/>
              </a:rPr>
              <a:t>Program</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838200"/>
            <a:ext cx="8229600" cy="5562600"/>
          </a:xfrm>
        </p:spPr>
        <p:txBody>
          <a:bodyPr>
            <a:noAutofit/>
          </a:bodyPr>
          <a:lstStyle/>
          <a:p>
            <a:r>
              <a:rPr lang="en-US" sz="2400" dirty="0" smtClean="0">
                <a:latin typeface="Times New Roman" pitchFamily="18" charset="0"/>
                <a:cs typeface="Times New Roman" pitchFamily="18" charset="0"/>
              </a:rPr>
              <a:t>#!/</a:t>
            </a:r>
            <a:r>
              <a:rPr lang="en-US" sz="2400" dirty="0" err="1" smtClean="0">
                <a:latin typeface="Times New Roman" pitchFamily="18" charset="0"/>
                <a:cs typeface="Times New Roman" pitchFamily="18" charset="0"/>
              </a:rPr>
              <a:t>usr</a:t>
            </a:r>
            <a:r>
              <a:rPr lang="en-US" sz="2400" dirty="0" smtClean="0">
                <a:latin typeface="Times New Roman" pitchFamily="18" charset="0"/>
                <a:cs typeface="Times New Roman" pitchFamily="18" charset="0"/>
              </a:rPr>
              <a:t>/bin/python </a:t>
            </a:r>
          </a:p>
          <a:p>
            <a:r>
              <a:rPr lang="en-US" sz="2400" dirty="0" smtClean="0">
                <a:latin typeface="Times New Roman" pitchFamily="18" charset="0"/>
                <a:cs typeface="Times New Roman" pitchFamily="18" charset="0"/>
              </a:rPr>
              <a:t>import </a:t>
            </a:r>
            <a:r>
              <a:rPr lang="en-US" sz="2400" dirty="0" err="1" smtClean="0">
                <a:latin typeface="Times New Roman" pitchFamily="18" charset="0"/>
                <a:cs typeface="Times New Roman" pitchFamily="18" charset="0"/>
              </a:rPr>
              <a:t>cgi</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os</a:t>
            </a:r>
            <a:r>
              <a:rPr lang="en-US" sz="2400" dirty="0" smtClean="0">
                <a:latin typeface="Times New Roman" pitchFamily="18" charset="0"/>
                <a:cs typeface="Times New Roman" pitchFamily="18" charset="0"/>
              </a:rPr>
              <a:t> </a:t>
            </a:r>
          </a:p>
          <a:p>
            <a:r>
              <a:rPr lang="en-US" sz="2400" dirty="0" smtClean="0">
                <a:latin typeface="Times New Roman" pitchFamily="18" charset="0"/>
                <a:cs typeface="Times New Roman" pitchFamily="18" charset="0"/>
              </a:rPr>
              <a:t>import </a:t>
            </a:r>
            <a:r>
              <a:rPr lang="en-US" sz="2400" dirty="0" err="1" smtClean="0">
                <a:latin typeface="Times New Roman" pitchFamily="18" charset="0"/>
                <a:cs typeface="Times New Roman" pitchFamily="18" charset="0"/>
              </a:rPr>
              <a:t>cgitb</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cgitb.enable</a:t>
            </a:r>
            <a:r>
              <a:rPr lang="en-US" sz="2400" dirty="0" smtClean="0">
                <a:latin typeface="Times New Roman" pitchFamily="18" charset="0"/>
                <a:cs typeface="Times New Roman" pitchFamily="18" charset="0"/>
              </a:rPr>
              <a:t>() </a:t>
            </a:r>
          </a:p>
          <a:p>
            <a:r>
              <a:rPr lang="en-US" sz="2400" dirty="0" smtClean="0">
                <a:latin typeface="Times New Roman" pitchFamily="18" charset="0"/>
                <a:cs typeface="Times New Roman" pitchFamily="18" charset="0"/>
              </a:rPr>
              <a:t>form = </a:t>
            </a:r>
            <a:r>
              <a:rPr lang="en-US" sz="2400" dirty="0" err="1" smtClean="0">
                <a:latin typeface="Times New Roman" pitchFamily="18" charset="0"/>
                <a:cs typeface="Times New Roman" pitchFamily="18" charset="0"/>
              </a:rPr>
              <a:t>cgi.FieldStorage</a:t>
            </a:r>
            <a:r>
              <a:rPr lang="en-US" sz="2400"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Get filename here. </a:t>
            </a:r>
          </a:p>
          <a:p>
            <a:r>
              <a:rPr lang="en-US" sz="2400" dirty="0" err="1" smtClean="0">
                <a:latin typeface="Times New Roman" pitchFamily="18" charset="0"/>
                <a:cs typeface="Times New Roman" pitchFamily="18" charset="0"/>
              </a:rPr>
              <a:t>fileitem</a:t>
            </a:r>
            <a:r>
              <a:rPr lang="en-US" sz="2400" dirty="0" smtClean="0">
                <a:latin typeface="Times New Roman" pitchFamily="18" charset="0"/>
                <a:cs typeface="Times New Roman" pitchFamily="18" charset="0"/>
              </a:rPr>
              <a:t> = form['filename'] </a:t>
            </a:r>
          </a:p>
          <a:p>
            <a:r>
              <a:rPr lang="en-US" sz="2400" dirty="0" smtClean="0">
                <a:latin typeface="Times New Roman" pitchFamily="18" charset="0"/>
                <a:cs typeface="Times New Roman" pitchFamily="18" charset="0"/>
              </a:rPr>
              <a:t># Test if the file was uploaded </a:t>
            </a:r>
          </a:p>
          <a:p>
            <a:r>
              <a:rPr lang="en-US" sz="2400" dirty="0" smtClean="0">
                <a:latin typeface="Times New Roman" pitchFamily="18" charset="0"/>
                <a:cs typeface="Times New Roman" pitchFamily="18" charset="0"/>
              </a:rPr>
              <a:t>if </a:t>
            </a:r>
            <a:r>
              <a:rPr lang="en-US" sz="2400" dirty="0" err="1" smtClean="0">
                <a:latin typeface="Times New Roman" pitchFamily="18" charset="0"/>
                <a:cs typeface="Times New Roman" pitchFamily="18" charset="0"/>
              </a:rPr>
              <a:t>fileitem.filename</a:t>
            </a:r>
            <a:r>
              <a:rPr lang="en-US" sz="2400" dirty="0" smtClean="0">
                <a:latin typeface="Times New Roman" pitchFamily="18" charset="0"/>
                <a:cs typeface="Times New Roman" pitchFamily="18" charset="0"/>
              </a:rPr>
              <a:t>: </a:t>
            </a:r>
          </a:p>
          <a:p>
            <a:r>
              <a:rPr lang="en-US" sz="2400" dirty="0" smtClean="0">
                <a:latin typeface="Times New Roman" pitchFamily="18" charset="0"/>
                <a:cs typeface="Times New Roman" pitchFamily="18" charset="0"/>
              </a:rPr>
              <a:t># strip leading path from file name to avoid </a:t>
            </a:r>
          </a:p>
          <a:p>
            <a:r>
              <a:rPr lang="en-US" sz="2400" dirty="0" smtClean="0">
                <a:latin typeface="Times New Roman" pitchFamily="18" charset="0"/>
                <a:cs typeface="Times New Roman" pitchFamily="18" charset="0"/>
              </a:rPr>
              <a:t># directory traversal attacks </a:t>
            </a:r>
          </a:p>
          <a:p>
            <a:r>
              <a:rPr lang="en-US" sz="2400" dirty="0" smtClean="0">
                <a:latin typeface="Times New Roman" pitchFamily="18" charset="0"/>
                <a:cs typeface="Times New Roman" pitchFamily="18" charset="0"/>
              </a:rPr>
              <a:t>fn = </a:t>
            </a:r>
            <a:r>
              <a:rPr lang="en-US" sz="2400" dirty="0" err="1" smtClean="0">
                <a:latin typeface="Times New Roman" pitchFamily="18" charset="0"/>
                <a:cs typeface="Times New Roman" pitchFamily="18" charset="0"/>
              </a:rPr>
              <a:t>os.path.basename</a:t>
            </a:r>
            <a:r>
              <a:rPr lang="en-US" sz="2400" dirty="0" smtClean="0">
                <a:latin typeface="Times New Roman" pitchFamily="18" charset="0"/>
                <a:cs typeface="Times New Roman" pitchFamily="18" charset="0"/>
              </a:rPr>
              <a:t>(</a:t>
            </a:r>
            <a:r>
              <a:rPr lang="en-US" sz="2400" dirty="0" err="1" smtClean="0">
                <a:latin typeface="Times New Roman" pitchFamily="18" charset="0"/>
                <a:cs typeface="Times New Roman" pitchFamily="18" charset="0"/>
              </a:rPr>
              <a:t>fileitem.filename</a:t>
            </a:r>
            <a:r>
              <a:rPr lang="en-US" sz="2400" dirty="0" smtClean="0">
                <a:latin typeface="Times New Roman" pitchFamily="18" charset="0"/>
                <a:cs typeface="Times New Roman" pitchFamily="18" charset="0"/>
              </a:rPr>
              <a:t>) </a:t>
            </a:r>
          </a:p>
          <a:p>
            <a:r>
              <a:rPr lang="en-US" sz="2400" dirty="0" smtClean="0">
                <a:latin typeface="Times New Roman" pitchFamily="18" charset="0"/>
                <a:cs typeface="Times New Roman" pitchFamily="18" charset="0"/>
              </a:rPr>
              <a:t>open('/</a:t>
            </a:r>
            <a:r>
              <a:rPr lang="en-US" sz="2400" dirty="0" err="1" smtClean="0">
                <a:latin typeface="Times New Roman" pitchFamily="18" charset="0"/>
                <a:cs typeface="Times New Roman" pitchFamily="18" charset="0"/>
              </a:rPr>
              <a:t>tmp</a:t>
            </a:r>
            <a:r>
              <a:rPr lang="en-US" sz="2400" dirty="0" smtClean="0">
                <a:latin typeface="Times New Roman" pitchFamily="18" charset="0"/>
                <a:cs typeface="Times New Roman" pitchFamily="18" charset="0"/>
              </a:rPr>
              <a:t>/' + fn, '</a:t>
            </a:r>
            <a:r>
              <a:rPr lang="en-US" sz="2400" dirty="0" err="1" smtClean="0">
                <a:latin typeface="Times New Roman" pitchFamily="18" charset="0"/>
                <a:cs typeface="Times New Roman" pitchFamily="18" charset="0"/>
              </a:rPr>
              <a:t>wb</a:t>
            </a:r>
            <a:r>
              <a:rPr lang="en-US" sz="2400" dirty="0" smtClean="0">
                <a:latin typeface="Times New Roman" pitchFamily="18" charset="0"/>
                <a:cs typeface="Times New Roman" pitchFamily="18" charset="0"/>
              </a:rPr>
              <a:t>').write(</a:t>
            </a:r>
            <a:r>
              <a:rPr lang="en-US" sz="2400" dirty="0" err="1" smtClean="0">
                <a:latin typeface="Times New Roman" pitchFamily="18" charset="0"/>
                <a:cs typeface="Times New Roman" pitchFamily="18" charset="0"/>
              </a:rPr>
              <a:t>fileitem.file.read</a:t>
            </a:r>
            <a:r>
              <a:rPr lang="en-US" sz="2400" dirty="0" smtClean="0">
                <a:latin typeface="Times New Roman" pitchFamily="18" charset="0"/>
                <a:cs typeface="Times New Roman" pitchFamily="18" charset="0"/>
              </a:rPr>
              <a:t>())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867400"/>
          </a:xfrm>
        </p:spPr>
        <p:txBody>
          <a:bodyPr>
            <a:normAutofit fontScale="92500" lnSpcReduction="20000"/>
          </a:bodyPr>
          <a:lstStyle/>
          <a:p>
            <a:r>
              <a:rPr lang="en-US" dirty="0" smtClean="0">
                <a:latin typeface="Times New Roman" pitchFamily="18" charset="0"/>
                <a:cs typeface="Times New Roman" pitchFamily="18" charset="0"/>
              </a:rPr>
              <a:t>message = 'The file "' + fn + '" was uploaded successfully' </a:t>
            </a:r>
          </a:p>
          <a:p>
            <a:r>
              <a:rPr lang="en-US" dirty="0" smtClean="0">
                <a:latin typeface="Times New Roman" pitchFamily="18" charset="0"/>
                <a:cs typeface="Times New Roman" pitchFamily="18" charset="0"/>
              </a:rPr>
              <a:t>else: </a:t>
            </a:r>
          </a:p>
          <a:p>
            <a:r>
              <a:rPr lang="en-US" dirty="0" smtClean="0">
                <a:latin typeface="Times New Roman" pitchFamily="18" charset="0"/>
                <a:cs typeface="Times New Roman" pitchFamily="18" charset="0"/>
              </a:rPr>
              <a:t>message = 'No file was uploaded' </a:t>
            </a:r>
          </a:p>
          <a:p>
            <a:r>
              <a:rPr lang="en-US" dirty="0" smtClean="0">
                <a:latin typeface="Times New Roman" pitchFamily="18" charset="0"/>
                <a:cs typeface="Times New Roman" pitchFamily="18" charset="0"/>
              </a:rPr>
              <a:t>print """\ </a:t>
            </a:r>
          </a:p>
          <a:p>
            <a:r>
              <a:rPr lang="en-US" dirty="0" smtClean="0">
                <a:latin typeface="Times New Roman" pitchFamily="18" charset="0"/>
                <a:cs typeface="Times New Roman" pitchFamily="18" charset="0"/>
              </a:rPr>
              <a:t>Content-Type: text/html\n </a:t>
            </a:r>
          </a:p>
          <a:p>
            <a:r>
              <a:rPr lang="en-US" dirty="0" smtClean="0">
                <a:latin typeface="Times New Roman" pitchFamily="18" charset="0"/>
                <a:cs typeface="Times New Roman" pitchFamily="18" charset="0"/>
              </a:rPr>
              <a:t>&lt;html&gt; </a:t>
            </a:r>
          </a:p>
          <a:p>
            <a:r>
              <a:rPr lang="en-US" dirty="0" smtClean="0">
                <a:latin typeface="Times New Roman" pitchFamily="18" charset="0"/>
                <a:cs typeface="Times New Roman" pitchFamily="18" charset="0"/>
              </a:rPr>
              <a:t>&lt;body&gt; </a:t>
            </a:r>
          </a:p>
          <a:p>
            <a:r>
              <a:rPr lang="en-US" dirty="0" smtClean="0">
                <a:latin typeface="Times New Roman" pitchFamily="18" charset="0"/>
                <a:cs typeface="Times New Roman" pitchFamily="18" charset="0"/>
              </a:rPr>
              <a:t>&lt;p&gt;%s&lt;/p&gt; </a:t>
            </a:r>
          </a:p>
          <a:p>
            <a:r>
              <a:rPr lang="en-US" dirty="0" smtClean="0">
                <a:latin typeface="Times New Roman" pitchFamily="18" charset="0"/>
                <a:cs typeface="Times New Roman" pitchFamily="18" charset="0"/>
              </a:rPr>
              <a:t>&lt;/body&gt; </a:t>
            </a:r>
          </a:p>
          <a:p>
            <a:r>
              <a:rPr lang="en-US" dirty="0" smtClean="0">
                <a:latin typeface="Times New Roman" pitchFamily="18" charset="0"/>
                <a:cs typeface="Times New Roman" pitchFamily="18" charset="0"/>
              </a:rPr>
              <a:t>&lt;/html&gt; </a:t>
            </a:r>
          </a:p>
          <a:p>
            <a:r>
              <a:rPr lang="en-US" dirty="0" smtClean="0">
                <a:latin typeface="Times New Roman" pitchFamily="18" charset="0"/>
                <a:cs typeface="Times New Roman" pitchFamily="18" charset="0"/>
              </a:rPr>
              <a:t>""" % (message,) </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noAutofit/>
          </a:bodyPr>
          <a:lstStyle/>
          <a:p>
            <a:r>
              <a:rPr lang="en-US" sz="2400" b="1" dirty="0" smtClean="0">
                <a:latin typeface="Times New Roman" pitchFamily="18" charset="0"/>
                <a:cs typeface="Times New Roman" pitchFamily="18" charset="0"/>
              </a:rPr>
              <a:t>How </a:t>
            </a:r>
            <a:r>
              <a:rPr lang="en-US" sz="2400" b="1" dirty="0" smtClean="0">
                <a:latin typeface="Times New Roman" pitchFamily="18" charset="0"/>
                <a:cs typeface="Times New Roman" pitchFamily="18" charset="0"/>
              </a:rPr>
              <a:t>To Raise a "File Download" Dialog Box? </a:t>
            </a:r>
            <a:endParaRPr lang="en-US" sz="24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4983163"/>
          </a:xfrm>
        </p:spPr>
        <p:txBody>
          <a:bodyPr>
            <a:normAutofit/>
          </a:bodyPr>
          <a:lstStyle/>
          <a:p>
            <a:r>
              <a:rPr lang="en-US" sz="2800" dirty="0" smtClean="0">
                <a:latin typeface="Times New Roman" pitchFamily="18" charset="0"/>
                <a:cs typeface="Times New Roman" pitchFamily="18" charset="0"/>
              </a:rPr>
              <a:t>Sometimes, it is desired that you want to give option where a user can click a link and it will pop up a "File Download" dialogue box to the user instead of displaying actual content. </a:t>
            </a:r>
          </a:p>
          <a:p>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This is very easy and can be achieved through HTTP header. </a:t>
            </a:r>
          </a:p>
          <a:p>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This HTTP header is be different from the header mentioned in previous section. </a:t>
            </a:r>
            <a:endParaRPr lang="en-US" sz="2800" dirty="0">
              <a:latin typeface="Times New Roman" pitchFamily="18" charset="0"/>
              <a:cs typeface="Times New Roman"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2800" dirty="0" smtClean="0">
                <a:latin typeface="Times New Roman" pitchFamily="18" charset="0"/>
                <a:cs typeface="Times New Roman" pitchFamily="18" charset="0"/>
              </a:rPr>
              <a:t>Program</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990600"/>
            <a:ext cx="8229600" cy="5562600"/>
          </a:xfrm>
        </p:spPr>
        <p:txBody>
          <a:bodyPr>
            <a:noAutofit/>
          </a:bodyPr>
          <a:lstStyle/>
          <a:p>
            <a:r>
              <a:rPr lang="en-US" sz="2400" dirty="0" smtClean="0">
                <a:latin typeface="Times New Roman" pitchFamily="18" charset="0"/>
                <a:cs typeface="Times New Roman" pitchFamily="18" charset="0"/>
              </a:rPr>
              <a:t>#!/</a:t>
            </a:r>
            <a:r>
              <a:rPr lang="en-US" sz="2400" dirty="0" err="1" smtClean="0">
                <a:latin typeface="Times New Roman" pitchFamily="18" charset="0"/>
                <a:cs typeface="Times New Roman" pitchFamily="18" charset="0"/>
              </a:rPr>
              <a:t>usr</a:t>
            </a:r>
            <a:r>
              <a:rPr lang="en-US" sz="2400" dirty="0" smtClean="0">
                <a:latin typeface="Times New Roman" pitchFamily="18" charset="0"/>
                <a:cs typeface="Times New Roman" pitchFamily="18" charset="0"/>
              </a:rPr>
              <a:t>/bin/python </a:t>
            </a:r>
          </a:p>
          <a:p>
            <a:r>
              <a:rPr lang="en-US" sz="2400" dirty="0" smtClean="0">
                <a:latin typeface="Times New Roman" pitchFamily="18" charset="0"/>
                <a:cs typeface="Times New Roman" pitchFamily="18" charset="0"/>
              </a:rPr>
              <a:t># HTTP Header </a:t>
            </a:r>
          </a:p>
          <a:p>
            <a:r>
              <a:rPr lang="en-US" sz="2400" dirty="0" smtClean="0">
                <a:latin typeface="Times New Roman" pitchFamily="18" charset="0"/>
                <a:cs typeface="Times New Roman" pitchFamily="18" charset="0"/>
              </a:rPr>
              <a:t>print "Content-</a:t>
            </a:r>
            <a:r>
              <a:rPr lang="en-US" sz="2400" dirty="0" err="1" smtClean="0">
                <a:latin typeface="Times New Roman" pitchFamily="18" charset="0"/>
                <a:cs typeface="Times New Roman" pitchFamily="18" charset="0"/>
              </a:rPr>
              <a:t>Type:application</a:t>
            </a:r>
            <a:r>
              <a:rPr lang="en-US" sz="2400" dirty="0" smtClean="0">
                <a:latin typeface="Times New Roman" pitchFamily="18" charset="0"/>
                <a:cs typeface="Times New Roman" pitchFamily="18" charset="0"/>
              </a:rPr>
              <a:t>/octet-stream; name=\"</a:t>
            </a:r>
            <a:r>
              <a:rPr lang="en-US" sz="2400" dirty="0" err="1" smtClean="0">
                <a:latin typeface="Times New Roman" pitchFamily="18" charset="0"/>
                <a:cs typeface="Times New Roman" pitchFamily="18" charset="0"/>
              </a:rPr>
              <a:t>FileName</a:t>
            </a:r>
            <a:r>
              <a:rPr lang="en-US" sz="2400" dirty="0" smtClean="0">
                <a:latin typeface="Times New Roman" pitchFamily="18" charset="0"/>
                <a:cs typeface="Times New Roman" pitchFamily="18" charset="0"/>
              </a:rPr>
              <a:t>\"\r\n"; </a:t>
            </a:r>
          </a:p>
          <a:p>
            <a:r>
              <a:rPr lang="fr-FR" sz="2400" dirty="0" err="1" smtClean="0">
                <a:latin typeface="Times New Roman" pitchFamily="18" charset="0"/>
                <a:cs typeface="Times New Roman" pitchFamily="18" charset="0"/>
              </a:rPr>
              <a:t>print</a:t>
            </a:r>
            <a:r>
              <a:rPr lang="fr-FR" sz="2400" dirty="0" smtClean="0">
                <a:latin typeface="Times New Roman" pitchFamily="18" charset="0"/>
                <a:cs typeface="Times New Roman" pitchFamily="18" charset="0"/>
              </a:rPr>
              <a:t> "Content-Disposition: </a:t>
            </a:r>
            <a:r>
              <a:rPr lang="fr-FR" sz="2400" dirty="0" err="1" smtClean="0">
                <a:latin typeface="Times New Roman" pitchFamily="18" charset="0"/>
                <a:cs typeface="Times New Roman" pitchFamily="18" charset="0"/>
              </a:rPr>
              <a:t>attachment</a:t>
            </a:r>
            <a:r>
              <a:rPr lang="fr-FR" sz="2400" dirty="0" smtClean="0">
                <a:latin typeface="Times New Roman" pitchFamily="18" charset="0"/>
                <a:cs typeface="Times New Roman" pitchFamily="18" charset="0"/>
              </a:rPr>
              <a:t>; </a:t>
            </a:r>
            <a:r>
              <a:rPr lang="fr-FR" sz="2400" dirty="0" err="1" smtClean="0">
                <a:latin typeface="Times New Roman" pitchFamily="18" charset="0"/>
                <a:cs typeface="Times New Roman" pitchFamily="18" charset="0"/>
              </a:rPr>
              <a:t>filename</a:t>
            </a:r>
            <a:r>
              <a:rPr lang="fr-FR" sz="2400" dirty="0" smtClean="0">
                <a:latin typeface="Times New Roman" pitchFamily="18" charset="0"/>
                <a:cs typeface="Times New Roman" pitchFamily="18" charset="0"/>
              </a:rPr>
              <a:t>=\"</a:t>
            </a:r>
            <a:r>
              <a:rPr lang="fr-FR" sz="2400" dirty="0" err="1" smtClean="0">
                <a:latin typeface="Times New Roman" pitchFamily="18" charset="0"/>
                <a:cs typeface="Times New Roman" pitchFamily="18" charset="0"/>
              </a:rPr>
              <a:t>FileName</a:t>
            </a:r>
            <a:r>
              <a:rPr lang="fr-FR" sz="2400" dirty="0" smtClean="0">
                <a:latin typeface="Times New Roman" pitchFamily="18" charset="0"/>
                <a:cs typeface="Times New Roman" pitchFamily="18" charset="0"/>
              </a:rPr>
              <a:t>\"\</a:t>
            </a:r>
            <a:r>
              <a:rPr lang="fr-FR" sz="2400" dirty="0" err="1" smtClean="0">
                <a:latin typeface="Times New Roman" pitchFamily="18" charset="0"/>
                <a:cs typeface="Times New Roman" pitchFamily="18" charset="0"/>
              </a:rPr>
              <a:t>r\n\n</a:t>
            </a:r>
            <a:r>
              <a:rPr lang="fr-FR" sz="2400" dirty="0" smtClean="0">
                <a:latin typeface="Times New Roman" pitchFamily="18" charset="0"/>
                <a:cs typeface="Times New Roman" pitchFamily="18" charset="0"/>
              </a:rPr>
              <a:t>"; </a:t>
            </a:r>
          </a:p>
          <a:p>
            <a:r>
              <a:rPr lang="en-US" sz="2400" dirty="0" smtClean="0">
                <a:latin typeface="Times New Roman" pitchFamily="18" charset="0"/>
                <a:cs typeface="Times New Roman" pitchFamily="18" charset="0"/>
              </a:rPr>
              <a:t># Actual File Content will go hear. </a:t>
            </a:r>
          </a:p>
          <a:p>
            <a:r>
              <a:rPr lang="en-US" sz="2400" dirty="0" err="1" smtClean="0">
                <a:latin typeface="Times New Roman" pitchFamily="18" charset="0"/>
                <a:cs typeface="Times New Roman" pitchFamily="18" charset="0"/>
              </a:rPr>
              <a:t>fo</a:t>
            </a:r>
            <a:r>
              <a:rPr lang="en-US" sz="2400" dirty="0" smtClean="0">
                <a:latin typeface="Times New Roman" pitchFamily="18" charset="0"/>
                <a:cs typeface="Times New Roman" pitchFamily="18" charset="0"/>
              </a:rPr>
              <a:t> = open("foo.txt", "</a:t>
            </a:r>
            <a:r>
              <a:rPr lang="en-US" sz="2400" dirty="0" err="1" smtClean="0">
                <a:latin typeface="Times New Roman" pitchFamily="18" charset="0"/>
                <a:cs typeface="Times New Roman" pitchFamily="18" charset="0"/>
              </a:rPr>
              <a:t>rb</a:t>
            </a:r>
            <a:r>
              <a:rPr lang="en-US" sz="2400" dirty="0" smtClean="0">
                <a:latin typeface="Times New Roman" pitchFamily="18" charset="0"/>
                <a:cs typeface="Times New Roman" pitchFamily="18" charset="0"/>
              </a:rPr>
              <a:t>") </a:t>
            </a:r>
          </a:p>
          <a:p>
            <a:r>
              <a:rPr lang="en-US" sz="2400" dirty="0" err="1" smtClean="0">
                <a:latin typeface="Times New Roman" pitchFamily="18" charset="0"/>
                <a:cs typeface="Times New Roman" pitchFamily="18" charset="0"/>
              </a:rPr>
              <a:t>str</a:t>
            </a:r>
            <a:r>
              <a:rPr lang="en-US" sz="2400" dirty="0" smtClean="0">
                <a:latin typeface="Times New Roman" pitchFamily="18" charset="0"/>
                <a:cs typeface="Times New Roman" pitchFamily="18" charset="0"/>
              </a:rPr>
              <a:t> = </a:t>
            </a:r>
            <a:r>
              <a:rPr lang="en-US" sz="2400" dirty="0" err="1" smtClean="0">
                <a:latin typeface="Times New Roman" pitchFamily="18" charset="0"/>
                <a:cs typeface="Times New Roman" pitchFamily="18" charset="0"/>
              </a:rPr>
              <a:t>fo.read</a:t>
            </a:r>
            <a:r>
              <a:rPr lang="en-US" sz="2400" dirty="0" smtClean="0">
                <a:latin typeface="Times New Roman" pitchFamily="18" charset="0"/>
                <a:cs typeface="Times New Roman" pitchFamily="18" charset="0"/>
              </a:rPr>
              <a:t>(); </a:t>
            </a:r>
          </a:p>
          <a:p>
            <a:r>
              <a:rPr lang="en-US" sz="2400" dirty="0" smtClean="0">
                <a:latin typeface="Times New Roman" pitchFamily="18" charset="0"/>
                <a:cs typeface="Times New Roman" pitchFamily="18" charset="0"/>
              </a:rPr>
              <a:t>print </a:t>
            </a:r>
            <a:r>
              <a:rPr lang="en-US" sz="2400" dirty="0" err="1" smtClean="0">
                <a:latin typeface="Times New Roman" pitchFamily="18" charset="0"/>
                <a:cs typeface="Times New Roman" pitchFamily="18" charset="0"/>
              </a:rPr>
              <a:t>str</a:t>
            </a:r>
            <a:r>
              <a:rPr lang="en-US" sz="2400" dirty="0" smtClean="0">
                <a:latin typeface="Times New Roman" pitchFamily="18" charset="0"/>
                <a:cs typeface="Times New Roman" pitchFamily="18" charset="0"/>
              </a:rPr>
              <a:t> </a:t>
            </a:r>
          </a:p>
          <a:p>
            <a:r>
              <a:rPr lang="en-US" sz="2400" dirty="0" smtClean="0">
                <a:latin typeface="Times New Roman" pitchFamily="18" charset="0"/>
                <a:cs typeface="Times New Roman" pitchFamily="18" charset="0"/>
              </a:rPr>
              <a:t># Close </a:t>
            </a:r>
            <a:r>
              <a:rPr lang="en-US" sz="2400" dirty="0" err="1" smtClean="0">
                <a:latin typeface="Times New Roman" pitchFamily="18" charset="0"/>
                <a:cs typeface="Times New Roman" pitchFamily="18" charset="0"/>
              </a:rPr>
              <a:t>opend</a:t>
            </a:r>
            <a:r>
              <a:rPr lang="en-US" sz="2400" dirty="0" smtClean="0">
                <a:latin typeface="Times New Roman" pitchFamily="18" charset="0"/>
                <a:cs typeface="Times New Roman" pitchFamily="18" charset="0"/>
              </a:rPr>
              <a:t> file </a:t>
            </a:r>
          </a:p>
          <a:p>
            <a:r>
              <a:rPr lang="en-US" sz="2400" dirty="0" err="1" smtClean="0">
                <a:latin typeface="Times New Roman" pitchFamily="18" charset="0"/>
                <a:cs typeface="Times New Roman" pitchFamily="18" charset="0"/>
              </a:rPr>
              <a:t>fo.close</a:t>
            </a:r>
            <a:r>
              <a:rPr lang="en-US" sz="2400" dirty="0" smtClean="0">
                <a:latin typeface="Times New Roman" pitchFamily="18" charset="0"/>
                <a:cs typeface="Times New Roman" pitchFamily="18" charset="0"/>
              </a:rPr>
              <a:t>() </a:t>
            </a:r>
            <a:endParaRPr lang="en-US" sz="24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200</TotalTime>
  <Words>2015</Words>
  <Application>Microsoft Office PowerPoint</Application>
  <PresentationFormat>On-screen Show (4:3)</PresentationFormat>
  <Paragraphs>326</Paragraphs>
  <Slides>38</Slides>
  <Notes>0</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Office Theme</vt:lpstr>
      <vt:lpstr>CGI   PROGRAMMING </vt:lpstr>
      <vt:lpstr>Web Browsing</vt:lpstr>
      <vt:lpstr>CGI Architecture</vt:lpstr>
      <vt:lpstr>Web Server Support and Configuration</vt:lpstr>
      <vt:lpstr>Slide 5</vt:lpstr>
      <vt:lpstr>First CGI Program</vt:lpstr>
      <vt:lpstr>Output</vt:lpstr>
      <vt:lpstr>HTTP Header</vt:lpstr>
      <vt:lpstr>CGI Environment Variables </vt:lpstr>
      <vt:lpstr>GET and POST Methods</vt:lpstr>
      <vt:lpstr>Get Method</vt:lpstr>
      <vt:lpstr>Output</vt:lpstr>
      <vt:lpstr>Simple FORM Example: GET Method </vt:lpstr>
      <vt:lpstr>Output</vt:lpstr>
      <vt:lpstr>Passing Checkbox Data to CGI Program</vt:lpstr>
      <vt:lpstr>Output</vt:lpstr>
      <vt:lpstr>Program</vt:lpstr>
      <vt:lpstr>Slide 18</vt:lpstr>
      <vt:lpstr>Passing Radio Button Data to CGI Program </vt:lpstr>
      <vt:lpstr>Output</vt:lpstr>
      <vt:lpstr>Program</vt:lpstr>
      <vt:lpstr>Passing Text Area Data to CGI Program </vt:lpstr>
      <vt:lpstr>Output</vt:lpstr>
      <vt:lpstr>Program</vt:lpstr>
      <vt:lpstr>Passing Drop Down Box Data to CGI Program</vt:lpstr>
      <vt:lpstr>Output</vt:lpstr>
      <vt:lpstr>Program</vt:lpstr>
      <vt:lpstr>Using Cookies in CGI </vt:lpstr>
      <vt:lpstr>Slide 29</vt:lpstr>
      <vt:lpstr>Retrieving Cookies </vt:lpstr>
      <vt:lpstr>program</vt:lpstr>
      <vt:lpstr>Output</vt:lpstr>
      <vt:lpstr>File Upload Example</vt:lpstr>
      <vt:lpstr>Output</vt:lpstr>
      <vt:lpstr>Program</vt:lpstr>
      <vt:lpstr>Slide 36</vt:lpstr>
      <vt:lpstr>How To Raise a "File Download" Dialog Box? </vt:lpstr>
      <vt:lpstr>Program</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CGI PROGRAMMING </dc:title>
  <dc:creator>HCT-03</dc:creator>
  <cp:lastModifiedBy>HCT-03</cp:lastModifiedBy>
  <cp:revision>34</cp:revision>
  <dcterms:created xsi:type="dcterms:W3CDTF">2006-08-16T00:00:00Z</dcterms:created>
  <dcterms:modified xsi:type="dcterms:W3CDTF">2017-05-02T12:06:10Z</dcterms:modified>
</cp:coreProperties>
</file>