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61" r:id="rId3"/>
    <p:sldId id="262" r:id="rId4"/>
    <p:sldId id="260" r:id="rId5"/>
    <p:sldId id="259" r:id="rId6"/>
    <p:sldId id="258" r:id="rId7"/>
    <p:sldId id="257" r:id="rId8"/>
    <p:sldId id="264" r:id="rId9"/>
    <p:sldId id="263" r:id="rId10"/>
    <p:sldId id="266" r:id="rId11"/>
    <p:sldId id="265" r:id="rId12"/>
    <p:sldId id="267" r:id="rId1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68" d="100"/>
          <a:sy n="68" d="100"/>
        </p:scale>
        <p:origin x="-1434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422030" y="1371600"/>
            <a:ext cx="8229600" cy="1828800"/>
          </a:xfrm>
        </p:spPr>
        <p:txBody>
          <a:bodyPr vert="horz" lIns="45720" tIns="0" rIns="45720" bIns="0" anchor="b">
            <a:normAutofit/>
            <a:scene3d>
              <a:camera prst="orthographicFront"/>
              <a:lightRig rig="soft" dir="t">
                <a:rot lat="0" lon="0" rev="17220000"/>
              </a:lightRig>
            </a:scene3d>
            <a:sp3d prstMaterial="softEdge">
              <a:bevelT w="38100" h="38100"/>
            </a:sp3d>
          </a:bodyPr>
          <a:lstStyle>
            <a:lvl1pPr>
              <a:defRPr sz="4800" b="1" cap="all" baseline="0">
                <a:ln w="6350">
                  <a:noFill/>
                </a:ln>
                <a:gradFill>
                  <a:gsLst>
                    <a:gs pos="0">
                      <a:schemeClr val="accent1">
                        <a:tint val="73000"/>
                        <a:satMod val="145000"/>
                      </a:schemeClr>
                    </a:gs>
                    <a:gs pos="73000">
                      <a:schemeClr val="accent1">
                        <a:tint val="73000"/>
                        <a:satMod val="145000"/>
                      </a:schemeClr>
                    </a:gs>
                    <a:gs pos="100000">
                      <a:schemeClr val="accent1">
                        <a:tint val="83000"/>
                        <a:satMod val="143000"/>
                      </a:schemeClr>
                    </a:gs>
                  </a:gsLst>
                  <a:lin ang="4800000" scaled="1"/>
                </a:gradFill>
                <a:effectLst>
                  <a:outerShdw blurRad="127000" dist="200000" dir="2700000" algn="tl" rotWithShape="0">
                    <a:srgbClr val="000000">
                      <a:alpha val="30000"/>
                    </a:srgbClr>
                  </a:outerShdw>
                </a:effectLst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5/1/2017</a:t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371600" y="3331698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00200" y="609600"/>
            <a:ext cx="7086600" cy="1828800"/>
          </a:xfrm>
        </p:spPr>
        <p:txBody>
          <a:bodyPr vert="horz" bIns="0" anchor="b">
            <a:noAutofit/>
            <a:scene3d>
              <a:camera prst="orthographicFront"/>
              <a:lightRig rig="soft" dir="t">
                <a:rot lat="0" lon="0" rev="17220000"/>
              </a:lightRig>
            </a:scene3d>
            <a:sp3d prstMaterial="softEdge">
              <a:bevelT w="38100" h="38100"/>
              <a:contourClr>
                <a:schemeClr val="tx2">
                  <a:shade val="50000"/>
                </a:schemeClr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4800" b="1" cap="none" baseline="0">
                <a:ln w="6350">
                  <a:noFill/>
                </a:ln>
                <a:solidFill>
                  <a:schemeClr val="accent1">
                    <a:tint val="90000"/>
                    <a:satMod val="120000"/>
                  </a:schemeClr>
                </a:solidFill>
                <a:effectLst>
                  <a:outerShdw blurRad="114300" dist="101600" dir="2700000" algn="tl" rotWithShape="0">
                    <a:srgbClr val="000000">
                      <a:alpha val="40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00200" y="2507786"/>
            <a:ext cx="7086600" cy="1509712"/>
          </a:xfrm>
        </p:spPr>
        <p:txBody>
          <a:bodyPr anchor="t"/>
          <a:lstStyle>
            <a:lvl1pPr marL="73152" indent="0" algn="l">
              <a:buNone/>
              <a:defRPr sz="20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924800" y="6416675"/>
            <a:ext cx="762000" cy="365125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8229600" cy="114300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2"/>
            <a:ext cx="4040188" cy="750887"/>
          </a:xfrm>
        </p:spPr>
        <p:txBody>
          <a:bodyPr anchor="ctr"/>
          <a:lstStyle>
            <a:lvl1pPr marL="0" indent="0">
              <a:buNone/>
              <a:defRPr sz="2400" b="0" cap="all" baseline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5" y="1535112"/>
            <a:ext cx="4041775" cy="750887"/>
          </a:xfrm>
        </p:spPr>
        <p:txBody>
          <a:bodyPr anchor="ctr"/>
          <a:lstStyle>
            <a:lvl1pPr marL="0" indent="0">
              <a:buNone/>
              <a:defRPr sz="2400" b="0" cap="all" baseline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2362200"/>
            <a:ext cx="4040188" cy="37639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362200"/>
            <a:ext cx="4041775" cy="37639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5/1/2017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5/1/2017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5/1/2017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vert="horz" anchor="b">
            <a:normAutofit/>
            <a:sp3d prstMaterial="softEdge"/>
          </a:bodyPr>
          <a:lstStyle>
            <a:lvl1pPr algn="l">
              <a:buNone/>
              <a:defRPr sz="2200" b="0">
                <a:ln w="6350">
                  <a:noFill/>
                </a:ln>
                <a:solidFill>
                  <a:schemeClr val="accent1">
                    <a:tint val="73000"/>
                    <a:satMod val="180000"/>
                  </a:schemeClr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57200" y="1524000"/>
            <a:ext cx="3008313" cy="4602163"/>
          </a:xfrm>
        </p:spPr>
        <p:txBody>
          <a:bodyPr/>
          <a:lstStyle>
            <a:lvl1pPr marL="0" indent="0"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200"/>
            </a:lvl3pPr>
            <a:lvl4pPr>
              <a:defRPr sz="20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28800" y="609600"/>
            <a:ext cx="5486400" cy="522288"/>
          </a:xfrm>
        </p:spPr>
        <p:txBody>
          <a:bodyPr lIns="45720" rIns="45720" bIns="0" anchor="b">
            <a:sp3d prstMaterial="softEdge"/>
          </a:bodyPr>
          <a:lstStyle>
            <a:lvl1pPr algn="ctr">
              <a:buNone/>
              <a:defRPr sz="2000" b="1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828800" y="1831975"/>
            <a:ext cx="5486400" cy="3962400"/>
          </a:xfrm>
          <a:solidFill>
            <a:schemeClr val="bg2"/>
          </a:solidFill>
          <a:ln w="44450" cap="sq" cmpd="sng" algn="ctr">
            <a:solidFill>
              <a:srgbClr val="FFFFFF"/>
            </a:solidFill>
            <a:prstDash val="solid"/>
            <a:miter lim="800000"/>
          </a:ln>
          <a:effectLst>
            <a:outerShdw blurRad="190500" dist="228600" dir="2700000" sy="90000">
              <a:srgbClr val="000000">
                <a:alpha val="25000"/>
              </a:srgbClr>
            </a:outerShdw>
          </a:effectLst>
          <a:scene3d>
            <a:camera prst="orthographicFront">
              <a:rot lat="0" lon="0" rev="0"/>
            </a:camera>
            <a:lightRig rig="balanced" dir="tr">
              <a:rot lat="0" lon="0" rev="2700000"/>
            </a:lightRig>
          </a:scene3d>
          <a:sp3d prstMaterial="matte">
            <a:contourClr>
              <a:schemeClr val="tx2">
                <a:shade val="50000"/>
              </a:schemeClr>
            </a:contourClr>
          </a:sp3d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/>
          <a:lstStyle>
            <a:lvl1pPr indent="0">
              <a:buNone/>
              <a:defRPr sz="3200"/>
            </a:lvl1pPr>
          </a:lstStyle>
          <a:p>
            <a:pPr marL="0" algn="l" rtl="0" eaLnBrk="1" latinLnBrk="0" hangingPunct="1"/>
            <a:r>
              <a:rPr kumimoji="0" lang="en-US" smtClean="0">
                <a:solidFill>
                  <a:schemeClr val="lt1"/>
                </a:solidFill>
                <a:latin typeface="+mn-lt"/>
                <a:ea typeface="+mn-ea"/>
                <a:cs typeface="+mn-cs"/>
              </a:rPr>
              <a:t>Click icon to add picture</a:t>
            </a:r>
            <a:endParaRPr kumimoji="0" lang="en-US" dirty="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828800" y="1166787"/>
            <a:ext cx="5486400" cy="530352"/>
          </a:xfrm>
        </p:spPr>
        <p:txBody>
          <a:bodyPr lIns="45720" tIns="45720" rIns="45720" anchor="t"/>
          <a:lstStyle>
            <a:lvl1pPr marL="0" indent="0" algn="ctr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>
                <a:rot lat="0" lon="0" rev="16800000"/>
              </a:lightRig>
            </a:scene3d>
            <a:sp3d prstMaterial="softEdge">
              <a:bevelT w="38100" h="38100"/>
            </a:sp3d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70916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457200" y="6416675"/>
            <a:ext cx="2133600" cy="365125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200">
                <a:solidFill>
                  <a:schemeClr val="tx1">
                    <a:shade val="50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5/1/2017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3124200" y="6416675"/>
            <a:ext cx="2895600" cy="365125"/>
          </a:xfrm>
          <a:prstGeom prst="rect">
            <a:avLst/>
          </a:prstGeom>
        </p:spPr>
        <p:txBody>
          <a:bodyPr vert="horz" anchor="b"/>
          <a:lstStyle>
            <a:lvl1pPr algn="ctr" eaLnBrk="1" latinLnBrk="0" hangingPunct="1">
              <a:defRPr kumimoji="0" sz="1200">
                <a:solidFill>
                  <a:schemeClr val="tx1">
                    <a:shade val="5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7924800" y="6416675"/>
            <a:ext cx="762000" cy="365125"/>
          </a:xfrm>
          <a:prstGeom prst="rect">
            <a:avLst/>
          </a:prstGeom>
        </p:spPr>
        <p:txBody>
          <a:bodyPr vert="horz" lIns="0" rIns="0" anchor="b"/>
          <a:lstStyle>
            <a:lvl1pPr algn="r" eaLnBrk="1" latinLnBrk="0" hangingPunct="1">
              <a:defRPr kumimoji="0" sz="1200">
                <a:solidFill>
                  <a:schemeClr val="tx1">
                    <a:shade val="50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rtl="0" eaLnBrk="1" latinLnBrk="0" hangingPunct="1">
        <a:spcBef>
          <a:spcPct val="0"/>
        </a:spcBef>
        <a:buNone/>
        <a:defRPr kumimoji="0" sz="4100" b="1" kern="1200" cap="none" baseline="0">
          <a:ln w="6350">
            <a:noFill/>
          </a:ln>
          <a:gradFill>
            <a:gsLst>
              <a:gs pos="0">
                <a:schemeClr val="accent1">
                  <a:tint val="73000"/>
                  <a:satMod val="145000"/>
                </a:schemeClr>
              </a:gs>
              <a:gs pos="73000">
                <a:schemeClr val="accent1">
                  <a:tint val="73000"/>
                  <a:satMod val="145000"/>
                </a:schemeClr>
              </a:gs>
              <a:gs pos="100000">
                <a:schemeClr val="accent1">
                  <a:tint val="83000"/>
                  <a:satMod val="143000"/>
                </a:schemeClr>
              </a:gs>
            </a:gsLst>
            <a:lin ang="4800000" scaled="1"/>
          </a:gradFill>
          <a:effectLst>
            <a:outerShdw blurRad="114300" dist="101600" dir="2700000" algn="tl" rotWithShape="0">
              <a:srgbClr val="000000">
                <a:alpha val="40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548640" indent="-411480" algn="l" rtl="0" eaLnBrk="1" latinLnBrk="0" hangingPunct="1">
        <a:spcBef>
          <a:spcPct val="20000"/>
        </a:spcBef>
        <a:buClr>
          <a:schemeClr val="tx1">
            <a:shade val="95000"/>
          </a:schemeClr>
        </a:buClr>
        <a:buSzPct val="65000"/>
        <a:buFont typeface="Wingdings 2"/>
        <a:buChar char="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868680" indent="-283464" algn="l" rtl="0" eaLnBrk="1" latinLnBrk="0" hangingPunct="1">
        <a:spcBef>
          <a:spcPct val="20000"/>
        </a:spcBef>
        <a:buClr>
          <a:schemeClr val="tx1"/>
        </a:buClr>
        <a:buSzPct val="80000"/>
        <a:buFont typeface="Wingdings 2"/>
        <a:buChar char="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33856" indent="-228600" algn="l" rtl="0" eaLnBrk="1" latinLnBrk="0" hangingPunct="1">
        <a:spcBef>
          <a:spcPct val="20000"/>
        </a:spcBef>
        <a:buClr>
          <a:schemeClr val="tx1"/>
        </a:buClr>
        <a:buSzPct val="95000"/>
        <a:buFont typeface="Wingdings"/>
        <a:buChar char=""/>
        <a:defRPr kumimoji="0" sz="2200" kern="1200">
          <a:solidFill>
            <a:schemeClr val="tx1"/>
          </a:solidFill>
          <a:latin typeface="+mn-lt"/>
          <a:ea typeface="+mn-ea"/>
          <a:cs typeface="+mn-cs"/>
        </a:defRPr>
      </a:lvl3pPr>
      <a:lvl4pPr marL="1353312" indent="-182880" algn="l" rtl="0" eaLnBrk="1" latinLnBrk="0" hangingPunct="1">
        <a:spcBef>
          <a:spcPct val="20000"/>
        </a:spcBef>
        <a:buClr>
          <a:schemeClr val="tx1"/>
        </a:buClr>
        <a:buSzPct val="100000"/>
        <a:buFont typeface="Wingdings 3"/>
        <a:buChar char="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545336" indent="-182880" algn="l" rtl="0" eaLnBrk="1" latinLnBrk="0" hangingPunct="1">
        <a:spcBef>
          <a:spcPct val="20000"/>
        </a:spcBef>
        <a:buClr>
          <a:schemeClr val="tx1"/>
        </a:buClr>
        <a:buFont typeface="Wingdings 2"/>
        <a:buChar char="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64792" indent="-182880" algn="l" rtl="0" eaLnBrk="1" latinLnBrk="0" hangingPunct="1">
        <a:spcBef>
          <a:spcPct val="20000"/>
        </a:spcBef>
        <a:buClr>
          <a:schemeClr val="tx1"/>
        </a:buClr>
        <a:buFont typeface="Wingdings 3"/>
        <a:buChar char="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65960" indent="-182880" algn="l" rtl="0" eaLnBrk="1" latinLnBrk="0" hangingPunct="1">
        <a:spcBef>
          <a:spcPct val="20000"/>
        </a:spcBef>
        <a:buClr>
          <a:schemeClr val="tx1"/>
        </a:buClr>
        <a:buFont typeface="Wingdings 2"/>
        <a:buChar char="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167128" indent="-182880" algn="l" rtl="0" eaLnBrk="1" latinLnBrk="0" hangingPunct="1">
        <a:spcBef>
          <a:spcPct val="20000"/>
        </a:spcBef>
        <a:buClr>
          <a:schemeClr val="tx1"/>
        </a:buClr>
        <a:buFont typeface="Wingdings 2"/>
        <a:buChar char=""/>
        <a:defRPr kumimoji="0"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368296" indent="-182880" algn="l" rtl="0" eaLnBrk="1" latinLnBrk="0" hangingPunct="1">
        <a:spcBef>
          <a:spcPct val="20000"/>
        </a:spcBef>
        <a:buClr>
          <a:schemeClr val="tx1"/>
        </a:buClr>
        <a:buFont typeface="Wingdings 2"/>
        <a:buChar char="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52401"/>
            <a:ext cx="7010400" cy="685799"/>
          </a:xfrm>
        </p:spPr>
        <p:txBody>
          <a:bodyPr>
            <a:normAutofit/>
          </a:bodyPr>
          <a:lstStyle/>
          <a:p>
            <a:r>
              <a:rPr lang="en-US" sz="2400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REGULAR EXPRESSIONS </a:t>
            </a:r>
            <a:endParaRPr lang="en-US" sz="2400" dirty="0">
              <a:latin typeface="Tahoma" pitchFamily="34" charset="0"/>
              <a:ea typeface="Tahoma" pitchFamily="34" charset="0"/>
              <a:cs typeface="Tahoma" pitchFamily="34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7200" y="1219200"/>
            <a:ext cx="8229600" cy="5105400"/>
          </a:xfrm>
        </p:spPr>
        <p:txBody>
          <a:bodyPr/>
          <a:lstStyle/>
          <a:p>
            <a:r>
              <a:rPr lang="en-US" dirty="0" smtClean="0">
                <a:solidFill>
                  <a:schemeClr val="tx1"/>
                </a:solidFill>
                <a:latin typeface="Times New Roman" pitchFamily="18" charset="0"/>
                <a:ea typeface="Tahoma" pitchFamily="34" charset="0"/>
                <a:cs typeface="Times New Roman" pitchFamily="18" charset="0"/>
              </a:rPr>
              <a:t>The module re provides full support for Perl-like regular expressions in Python. </a:t>
            </a:r>
          </a:p>
          <a:p>
            <a:endParaRPr lang="en-US" dirty="0" smtClean="0">
              <a:solidFill>
                <a:schemeClr val="tx1"/>
              </a:solidFill>
              <a:latin typeface="Times New Roman" pitchFamily="18" charset="0"/>
              <a:ea typeface="Tahoma" pitchFamily="34" charset="0"/>
              <a:cs typeface="Times New Roman" pitchFamily="18" charset="0"/>
            </a:endParaRPr>
          </a:p>
          <a:p>
            <a:r>
              <a:rPr lang="en-US" dirty="0" smtClean="0">
                <a:solidFill>
                  <a:schemeClr val="tx1"/>
                </a:solidFill>
                <a:latin typeface="Times New Roman" pitchFamily="18" charset="0"/>
                <a:ea typeface="Tahoma" pitchFamily="34" charset="0"/>
                <a:cs typeface="Times New Roman" pitchFamily="18" charset="0"/>
              </a:rPr>
              <a:t>The re module raises the exception re.</a:t>
            </a:r>
          </a:p>
          <a:p>
            <a:endParaRPr lang="en-US" dirty="0" smtClean="0">
              <a:solidFill>
                <a:schemeClr val="tx1"/>
              </a:solidFill>
              <a:latin typeface="Times New Roman" pitchFamily="18" charset="0"/>
              <a:ea typeface="Tahoma" pitchFamily="34" charset="0"/>
              <a:cs typeface="Times New Roman" pitchFamily="18" charset="0"/>
            </a:endParaRPr>
          </a:p>
          <a:p>
            <a:r>
              <a:rPr lang="en-US" dirty="0" smtClean="0">
                <a:solidFill>
                  <a:schemeClr val="tx1"/>
                </a:solidFill>
                <a:latin typeface="Times New Roman" pitchFamily="18" charset="0"/>
                <a:ea typeface="Tahoma" pitchFamily="34" charset="0"/>
                <a:cs typeface="Times New Roman" pitchFamily="18" charset="0"/>
              </a:rPr>
              <a:t>error if an error occurs while compiling or using a regular expression </a:t>
            </a:r>
            <a:endParaRPr lang="en-US" dirty="0">
              <a:solidFill>
                <a:schemeClr val="tx1"/>
              </a:solidFill>
              <a:latin typeface="Times New Roman" pitchFamily="18" charset="0"/>
              <a:ea typeface="Tahoma" pitchFamily="34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92162"/>
          </a:xfrm>
        </p:spPr>
        <p:txBody>
          <a:bodyPr>
            <a:normAutofit/>
          </a:bodyPr>
          <a:lstStyle/>
          <a:p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The match Function </a:t>
            </a:r>
            <a:endParaRPr lang="en-US" sz="28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This function attempts to match RE pattern to string with optional flags. </a:t>
            </a:r>
          </a:p>
          <a:p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syntax for this function: </a:t>
            </a:r>
          </a:p>
          <a:p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re.match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(pattern, string, flags=0) 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57400" y="274638"/>
            <a:ext cx="5257800" cy="563562"/>
          </a:xfrm>
        </p:spPr>
        <p:txBody>
          <a:bodyPr>
            <a:normAutofit/>
          </a:bodyPr>
          <a:lstStyle/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Program</a:t>
            </a:r>
            <a:endParaRPr lang="en-US" sz="28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90600"/>
            <a:ext cx="8229600" cy="5486400"/>
          </a:xfrm>
        </p:spPr>
        <p:txBody>
          <a:bodyPr>
            <a:noAutofit/>
          </a:bodyPr>
          <a:lstStyle/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#!/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usr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/bin/python </a:t>
            </a:r>
          </a:p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import re </a:t>
            </a:r>
          </a:p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line = "Cats are smarter than dogs" </a:t>
            </a:r>
          </a:p>
          <a:p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matchObj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= 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re.match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( r'(.*) are (.*?) .*', line, 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re.M|re.I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) </a:t>
            </a:r>
          </a:p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if 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matchObj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: </a:t>
            </a:r>
          </a:p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print "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matchObj.group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() : ", 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matchObj.group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() </a:t>
            </a:r>
          </a:p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print "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matchObj.group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(1) : ", 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matchObj.group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(1) </a:t>
            </a:r>
          </a:p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print "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matchObj.group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(2) : ", 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matchObj.group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(2) </a:t>
            </a:r>
          </a:p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else: </a:t>
            </a:r>
          </a:p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print "No match!!" </a:t>
            </a:r>
          </a:p>
          <a:p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0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Output</a:t>
            </a:r>
          </a:p>
          <a:p>
            <a:r>
              <a:rPr lang="en-US" sz="2000" dirty="0" err="1" smtClean="0"/>
              <a:t>matchObj.group</a:t>
            </a:r>
            <a:r>
              <a:rPr lang="en-US" sz="2000" dirty="0" smtClean="0"/>
              <a:t>() : Cats are smarter than dogs </a:t>
            </a:r>
          </a:p>
          <a:p>
            <a:r>
              <a:rPr lang="en-US" sz="2000" dirty="0" err="1" smtClean="0"/>
              <a:t>matchObj.group</a:t>
            </a:r>
            <a:r>
              <a:rPr lang="en-US" sz="2000" dirty="0" smtClean="0"/>
              <a:t>(1) : Cats </a:t>
            </a:r>
          </a:p>
          <a:p>
            <a:r>
              <a:rPr lang="en-US" sz="2000" dirty="0" err="1" smtClean="0"/>
              <a:t>matchObj.group</a:t>
            </a:r>
            <a:r>
              <a:rPr lang="en-US" sz="2000" dirty="0" smtClean="0"/>
              <a:t>(2) : smarter 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9200" y="152400"/>
            <a:ext cx="6248400" cy="762000"/>
          </a:xfrm>
        </p:spPr>
        <p:txBody>
          <a:bodyPr>
            <a:normAutofit/>
          </a:bodyPr>
          <a:lstStyle/>
          <a:p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The search Function</a:t>
            </a:r>
            <a:endParaRPr lang="en-US" sz="28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990600"/>
            <a:ext cx="8534400" cy="5410200"/>
          </a:xfrm>
        </p:spPr>
        <p:txBody>
          <a:bodyPr/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This function searches for first occurrence of RE pattern within string with optional flags. </a:t>
            </a:r>
          </a:p>
          <a:p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the syntax for this function: </a:t>
            </a:r>
          </a:p>
          <a:p>
            <a:pPr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  		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re.search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(pattern, string, flags=0) 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762000"/>
          </a:xfrm>
        </p:spPr>
        <p:txBody>
          <a:bodyPr>
            <a:normAutofit/>
          </a:bodyPr>
          <a:lstStyle/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Program</a:t>
            </a:r>
            <a:endParaRPr lang="en-US" sz="2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38200"/>
            <a:ext cx="8229600" cy="5867400"/>
          </a:xfrm>
        </p:spPr>
        <p:txBody>
          <a:bodyPr>
            <a:normAutofit/>
          </a:bodyPr>
          <a:lstStyle/>
          <a:p>
            <a:r>
              <a:rPr lang="en-US" sz="2600" dirty="0" smtClean="0">
                <a:latin typeface="Times New Roman" pitchFamily="18" charset="0"/>
                <a:cs typeface="Times New Roman" pitchFamily="18" charset="0"/>
              </a:rPr>
              <a:t>import re </a:t>
            </a:r>
          </a:p>
          <a:p>
            <a:r>
              <a:rPr lang="en-US" sz="2600" dirty="0" smtClean="0">
                <a:latin typeface="Times New Roman" pitchFamily="18" charset="0"/>
                <a:cs typeface="Times New Roman" pitchFamily="18" charset="0"/>
              </a:rPr>
              <a:t>line = "Cats are smarter than dogs"; </a:t>
            </a:r>
          </a:p>
          <a:p>
            <a:r>
              <a:rPr lang="en-US" sz="2600" dirty="0" err="1" smtClean="0">
                <a:latin typeface="Times New Roman" pitchFamily="18" charset="0"/>
                <a:cs typeface="Times New Roman" pitchFamily="18" charset="0"/>
              </a:rPr>
              <a:t>searchObj</a:t>
            </a:r>
            <a:r>
              <a:rPr lang="en-US" sz="2600" dirty="0" smtClean="0">
                <a:latin typeface="Times New Roman" pitchFamily="18" charset="0"/>
                <a:cs typeface="Times New Roman" pitchFamily="18" charset="0"/>
              </a:rPr>
              <a:t> = </a:t>
            </a:r>
            <a:r>
              <a:rPr lang="en-US" sz="2600" dirty="0" err="1" smtClean="0">
                <a:latin typeface="Times New Roman" pitchFamily="18" charset="0"/>
                <a:cs typeface="Times New Roman" pitchFamily="18" charset="0"/>
              </a:rPr>
              <a:t>re.search</a:t>
            </a:r>
            <a:r>
              <a:rPr lang="en-US" sz="2600" dirty="0" smtClean="0">
                <a:latin typeface="Times New Roman" pitchFamily="18" charset="0"/>
                <a:cs typeface="Times New Roman" pitchFamily="18" charset="0"/>
              </a:rPr>
              <a:t>( r'(.*) are (.*?) .*', line, </a:t>
            </a:r>
            <a:r>
              <a:rPr lang="en-US" sz="2600" dirty="0" err="1" smtClean="0">
                <a:latin typeface="Times New Roman" pitchFamily="18" charset="0"/>
                <a:cs typeface="Times New Roman" pitchFamily="18" charset="0"/>
              </a:rPr>
              <a:t>re.M|re.I</a:t>
            </a:r>
            <a:r>
              <a:rPr lang="en-US" sz="2600" dirty="0" smtClean="0">
                <a:latin typeface="Times New Roman" pitchFamily="18" charset="0"/>
                <a:cs typeface="Times New Roman" pitchFamily="18" charset="0"/>
              </a:rPr>
              <a:t>) </a:t>
            </a:r>
          </a:p>
          <a:p>
            <a:r>
              <a:rPr lang="en-US" sz="2600" dirty="0" smtClean="0">
                <a:latin typeface="Times New Roman" pitchFamily="18" charset="0"/>
                <a:cs typeface="Times New Roman" pitchFamily="18" charset="0"/>
              </a:rPr>
              <a:t>if </a:t>
            </a:r>
            <a:r>
              <a:rPr lang="en-US" sz="2600" dirty="0" err="1" smtClean="0">
                <a:latin typeface="Times New Roman" pitchFamily="18" charset="0"/>
                <a:cs typeface="Times New Roman" pitchFamily="18" charset="0"/>
              </a:rPr>
              <a:t>searchObj</a:t>
            </a:r>
            <a:r>
              <a:rPr lang="en-US" sz="2600" dirty="0" smtClean="0">
                <a:latin typeface="Times New Roman" pitchFamily="18" charset="0"/>
                <a:cs typeface="Times New Roman" pitchFamily="18" charset="0"/>
              </a:rPr>
              <a:t>: </a:t>
            </a:r>
          </a:p>
          <a:p>
            <a:r>
              <a:rPr lang="en-US" sz="2600" dirty="0" smtClean="0">
                <a:latin typeface="Times New Roman" pitchFamily="18" charset="0"/>
                <a:cs typeface="Times New Roman" pitchFamily="18" charset="0"/>
              </a:rPr>
              <a:t>print "</a:t>
            </a:r>
            <a:r>
              <a:rPr lang="en-US" sz="2600" dirty="0" err="1" smtClean="0">
                <a:latin typeface="Times New Roman" pitchFamily="18" charset="0"/>
                <a:cs typeface="Times New Roman" pitchFamily="18" charset="0"/>
              </a:rPr>
              <a:t>searchObj.group</a:t>
            </a:r>
            <a:r>
              <a:rPr lang="en-US" sz="2600" dirty="0" smtClean="0">
                <a:latin typeface="Times New Roman" pitchFamily="18" charset="0"/>
                <a:cs typeface="Times New Roman" pitchFamily="18" charset="0"/>
              </a:rPr>
              <a:t>() : ", </a:t>
            </a:r>
            <a:r>
              <a:rPr lang="en-US" sz="2600" dirty="0" err="1" smtClean="0">
                <a:latin typeface="Times New Roman" pitchFamily="18" charset="0"/>
                <a:cs typeface="Times New Roman" pitchFamily="18" charset="0"/>
              </a:rPr>
              <a:t>searchObj.group</a:t>
            </a:r>
            <a:r>
              <a:rPr lang="en-US" sz="2600" dirty="0" smtClean="0">
                <a:latin typeface="Times New Roman" pitchFamily="18" charset="0"/>
                <a:cs typeface="Times New Roman" pitchFamily="18" charset="0"/>
              </a:rPr>
              <a:t>() </a:t>
            </a:r>
          </a:p>
          <a:p>
            <a:r>
              <a:rPr lang="en-US" sz="2600" dirty="0" smtClean="0">
                <a:latin typeface="Times New Roman" pitchFamily="18" charset="0"/>
                <a:cs typeface="Times New Roman" pitchFamily="18" charset="0"/>
              </a:rPr>
              <a:t>print "</a:t>
            </a:r>
            <a:r>
              <a:rPr lang="en-US" sz="2600" dirty="0" err="1" smtClean="0">
                <a:latin typeface="Times New Roman" pitchFamily="18" charset="0"/>
                <a:cs typeface="Times New Roman" pitchFamily="18" charset="0"/>
              </a:rPr>
              <a:t>searchObj.group</a:t>
            </a:r>
            <a:r>
              <a:rPr lang="en-US" sz="2600" dirty="0" smtClean="0">
                <a:latin typeface="Times New Roman" pitchFamily="18" charset="0"/>
                <a:cs typeface="Times New Roman" pitchFamily="18" charset="0"/>
              </a:rPr>
              <a:t>(1) : ", </a:t>
            </a:r>
            <a:r>
              <a:rPr lang="en-US" sz="2600" dirty="0" err="1" smtClean="0">
                <a:latin typeface="Times New Roman" pitchFamily="18" charset="0"/>
                <a:cs typeface="Times New Roman" pitchFamily="18" charset="0"/>
              </a:rPr>
              <a:t>searchObj.group</a:t>
            </a:r>
            <a:r>
              <a:rPr lang="en-US" sz="2600" dirty="0" smtClean="0">
                <a:latin typeface="Times New Roman" pitchFamily="18" charset="0"/>
                <a:cs typeface="Times New Roman" pitchFamily="18" charset="0"/>
              </a:rPr>
              <a:t>(1) </a:t>
            </a:r>
          </a:p>
          <a:p>
            <a:r>
              <a:rPr lang="en-US" sz="2600" dirty="0" smtClean="0">
                <a:latin typeface="Times New Roman" pitchFamily="18" charset="0"/>
                <a:cs typeface="Times New Roman" pitchFamily="18" charset="0"/>
              </a:rPr>
              <a:t>print "</a:t>
            </a:r>
            <a:r>
              <a:rPr lang="en-US" sz="2600" dirty="0" err="1" smtClean="0">
                <a:latin typeface="Times New Roman" pitchFamily="18" charset="0"/>
                <a:cs typeface="Times New Roman" pitchFamily="18" charset="0"/>
              </a:rPr>
              <a:t>searchObj.group</a:t>
            </a:r>
            <a:r>
              <a:rPr lang="en-US" sz="2600" dirty="0" smtClean="0">
                <a:latin typeface="Times New Roman" pitchFamily="18" charset="0"/>
                <a:cs typeface="Times New Roman" pitchFamily="18" charset="0"/>
              </a:rPr>
              <a:t>(2) : ", </a:t>
            </a:r>
            <a:r>
              <a:rPr lang="en-US" sz="2600" dirty="0" err="1" smtClean="0">
                <a:latin typeface="Times New Roman" pitchFamily="18" charset="0"/>
                <a:cs typeface="Times New Roman" pitchFamily="18" charset="0"/>
              </a:rPr>
              <a:t>searchObj.group</a:t>
            </a:r>
            <a:r>
              <a:rPr lang="en-US" sz="2600" dirty="0" smtClean="0">
                <a:latin typeface="Times New Roman" pitchFamily="18" charset="0"/>
                <a:cs typeface="Times New Roman" pitchFamily="18" charset="0"/>
              </a:rPr>
              <a:t>(2) </a:t>
            </a:r>
          </a:p>
          <a:p>
            <a:r>
              <a:rPr lang="en-US" sz="2600" dirty="0" smtClean="0">
                <a:latin typeface="Times New Roman" pitchFamily="18" charset="0"/>
                <a:cs typeface="Times New Roman" pitchFamily="18" charset="0"/>
              </a:rPr>
              <a:t>else: </a:t>
            </a:r>
          </a:p>
          <a:p>
            <a:r>
              <a:rPr lang="en-US" sz="2600" dirty="0" smtClean="0">
                <a:latin typeface="Times New Roman" pitchFamily="18" charset="0"/>
                <a:cs typeface="Times New Roman" pitchFamily="18" charset="0"/>
              </a:rPr>
              <a:t>print "Nothing found!!" </a:t>
            </a:r>
          </a:p>
          <a:p>
            <a:endParaRPr lang="en-US" sz="26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Output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743200"/>
            <a:ext cx="8229600" cy="3382963"/>
          </a:xfrm>
        </p:spPr>
        <p:txBody>
          <a:bodyPr/>
          <a:lstStyle/>
          <a:p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matchObj.group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() : Cats are smarter than dogs </a:t>
            </a:r>
          </a:p>
          <a:p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matchObj.group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(1) : Cats </a:t>
            </a:r>
          </a:p>
          <a:p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matchObj.group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(2) : smarter 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Matching Versus Searching 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362200"/>
            <a:ext cx="8229600" cy="3763963"/>
          </a:xfrm>
        </p:spPr>
        <p:txBody>
          <a:bodyPr>
            <a:norm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Python offers two different primitive operations based on regular expressions:</a:t>
            </a:r>
          </a:p>
          <a:p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match checks for a match only at the beginning of the string, while search checks for a match anywhere in the string 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0" y="152400"/>
            <a:ext cx="2667000" cy="533400"/>
          </a:xfrm>
        </p:spPr>
        <p:txBody>
          <a:bodyPr>
            <a:normAutofit/>
          </a:bodyPr>
          <a:lstStyle/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Program</a:t>
            </a:r>
            <a:endParaRPr lang="en-US" sz="2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14400"/>
            <a:ext cx="8229600" cy="5562600"/>
          </a:xfrm>
        </p:spPr>
        <p:txBody>
          <a:bodyPr>
            <a:normAutofit fontScale="92500" lnSpcReduction="20000"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import re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line = "Cats are smarter than dogs"; </a:t>
            </a:r>
          </a:p>
          <a:p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matchObj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=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re.match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(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r'dogs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', line,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re.M|re.I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)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if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matchObj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: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print "match --&gt;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matchObj.group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() : ",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matchObj.group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()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else: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print "No match!!" </a:t>
            </a:r>
          </a:p>
          <a:p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searchObj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=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re.search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(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r'dogs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', line,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re.M|re.I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)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if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searchObj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: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print "search --&gt;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searchObj.group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() : ",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searchObj.group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()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else: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print "Nothing found!!" 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Output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667000"/>
            <a:ext cx="8229600" cy="3459163"/>
          </a:xfrm>
        </p:spPr>
        <p:txBody>
          <a:bodyPr/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No match!!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search --&gt;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matchObj.group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() : dogs 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Search and Replace 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One of the most important re methods that use regular expressions is sub. </a:t>
            </a:r>
          </a:p>
          <a:p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Syntax </a:t>
            </a:r>
          </a:p>
          <a:p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re.sub(pattern,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repl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, string, max=0) 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95600" y="152400"/>
            <a:ext cx="3962400" cy="685800"/>
          </a:xfrm>
        </p:spPr>
        <p:txBody>
          <a:bodyPr>
            <a:normAutofit/>
          </a:bodyPr>
          <a:lstStyle/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Program</a:t>
            </a:r>
            <a:endParaRPr lang="en-US" sz="28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38200"/>
            <a:ext cx="8229600" cy="5486400"/>
          </a:xfrm>
        </p:spPr>
        <p:txBody>
          <a:bodyPr>
            <a:normAutofit/>
          </a:bodyPr>
          <a:lstStyle/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import re </a:t>
            </a:r>
          </a:p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phone = "2004-959-559 # This is Phone Number" </a:t>
            </a:r>
          </a:p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# Delete Python-style comments </a:t>
            </a:r>
          </a:p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num = re.sub(r'#.*$', "", phone) </a:t>
            </a:r>
          </a:p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print "Phone Num : ", num </a:t>
            </a:r>
          </a:p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# Remove anything other than digits </a:t>
            </a:r>
          </a:p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num = re.sub(r'\D', "", phone) </a:t>
            </a:r>
          </a:p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print "Phone Num : ", num </a:t>
            </a:r>
            <a:endParaRPr lang="en-US" sz="28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 smtClean="0">
                <a:latin typeface="Times New Roman" pitchFamily="18" charset="0"/>
                <a:cs typeface="Times New Roman" pitchFamily="18" charset="0"/>
              </a:rPr>
              <a:t>Output</a:t>
            </a:r>
            <a:endParaRPr lang="en-US" sz="4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95400" y="2362201"/>
            <a:ext cx="6019800" cy="2133600"/>
          </a:xfrm>
        </p:spPr>
        <p:txBody>
          <a:bodyPr/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Phone Num : 2004-959-559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Phone Num : 2004959559 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Apex">
  <a:themeElements>
    <a:clrScheme name="Apex">
      <a:dk1>
        <a:sysClr val="windowText" lastClr="000000"/>
      </a:dk1>
      <a:lt1>
        <a:sysClr val="window" lastClr="FFFFFF"/>
      </a:lt1>
      <a:dk2>
        <a:srgbClr val="69676D"/>
      </a:dk2>
      <a:lt2>
        <a:srgbClr val="C9C2D1"/>
      </a:lt2>
      <a:accent1>
        <a:srgbClr val="CEB966"/>
      </a:accent1>
      <a:accent2>
        <a:srgbClr val="9CB084"/>
      </a:accent2>
      <a:accent3>
        <a:srgbClr val="6BB1C9"/>
      </a:accent3>
      <a:accent4>
        <a:srgbClr val="6585CF"/>
      </a:accent4>
      <a:accent5>
        <a:srgbClr val="7E6BC9"/>
      </a:accent5>
      <a:accent6>
        <a:srgbClr val="A379BB"/>
      </a:accent6>
      <a:hlink>
        <a:srgbClr val="410082"/>
      </a:hlink>
      <a:folHlink>
        <a:srgbClr val="932968"/>
      </a:folHlink>
    </a:clrScheme>
    <a:fontScheme name="Apex">
      <a:majorFont>
        <a:latin typeface="Lucida Sans"/>
        <a:ea typeface=""/>
        <a:cs typeface=""/>
        <a:font script="Grek" typeface="Arial"/>
        <a:font script="Cyrl" typeface="Arial"/>
        <a:font script="Jpan" typeface="HG丸ｺﾞｼｯｸM-PRO"/>
        <a:font script="Hang" typeface="휴먼옛체"/>
        <a:font script="Hans" typeface="黑体"/>
        <a:font script="Hant" typeface="微軟正黑體"/>
        <a:font script="Arab" typeface="Tahoma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Book Antiqua"/>
        <a:ea typeface=""/>
        <a:cs typeface=""/>
        <a:font script="Grek" typeface="Times New Roman"/>
        <a:font script="Cyrl" typeface="Times New Roman"/>
        <a:font script="Jpan" typeface="HG明朝B"/>
        <a:font script="Hang" typeface="돋움"/>
        <a:font script="Hans" typeface="宋体"/>
        <a:font script="Hant" typeface="新細明體"/>
        <a:font script="Arab" typeface="Times New Roman"/>
        <a:font script="Hebr" typeface="David"/>
        <a:font script="Thai" typeface="Eucrosia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Apex">
      <a:fillStyleLst>
        <a:solidFill>
          <a:schemeClr val="phClr"/>
        </a:solidFill>
        <a:gradFill rotWithShape="1">
          <a:gsLst>
            <a:gs pos="20000">
              <a:schemeClr val="phClr">
                <a:tint val="9000"/>
              </a:schemeClr>
            </a:gs>
            <a:gs pos="100000">
              <a:schemeClr val="phClr">
                <a:tint val="70000"/>
                <a:satMod val="100000"/>
              </a:schemeClr>
            </a:gs>
          </a:gsLst>
          <a:path path="circle">
            <a:fillToRect l="-15000" t="-15000" r="115000" b="115000"/>
          </a:path>
        </a:gradFill>
        <a:gradFill rotWithShape="1">
          <a:gsLst>
            <a:gs pos="0">
              <a:schemeClr val="phClr">
                <a:shade val="60000"/>
              </a:schemeClr>
            </a:gs>
            <a:gs pos="33000">
              <a:schemeClr val="phClr">
                <a:tint val="86500"/>
              </a:schemeClr>
            </a:gs>
            <a:gs pos="46750">
              <a:schemeClr val="phClr">
                <a:tint val="71000"/>
                <a:satMod val="112000"/>
              </a:schemeClr>
            </a:gs>
            <a:gs pos="53000">
              <a:schemeClr val="phClr">
                <a:tint val="71000"/>
                <a:satMod val="112000"/>
              </a:schemeClr>
            </a:gs>
            <a:gs pos="68000">
              <a:schemeClr val="phClr">
                <a:tint val="86000"/>
              </a:schemeClr>
            </a:gs>
            <a:gs pos="100000">
              <a:schemeClr val="phClr">
                <a:shade val="60000"/>
              </a:schemeClr>
            </a:gs>
          </a:gsLst>
          <a:lin ang="8350000" scaled="1"/>
        </a:gradFill>
      </a:fillStyleLst>
      <a:lnStyleLst>
        <a:ln w="9525" cap="flat" cmpd="sng" algn="ctr">
          <a:solidFill>
            <a:schemeClr val="phClr">
              <a:shade val="48000"/>
              <a:satMod val="11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130000" dist="101600" dir="2700000" algn="tl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190500" dist="228600" dir="2700000" sy="90000" rotWithShape="0">
              <a:srgbClr val="000000">
                <a:alpha val="25500"/>
              </a:srgbClr>
            </a:outerShdw>
          </a:effectLst>
        </a:effectStyle>
        <a:effectStyle>
          <a:effectLst>
            <a:outerShdw blurRad="190500" dist="228600" dir="2700000" sy="90000" rotWithShape="0">
              <a:srgbClr val="000000">
                <a:alpha val="25500"/>
              </a:srgbClr>
            </a:outerShdw>
          </a:effectLst>
          <a:scene3d>
            <a:camera prst="orthographicFront" fov="0">
              <a:rot lat="0" lon="0" rev="0"/>
            </a:camera>
            <a:lightRig rig="soft" dir="tl">
              <a:rot lat="0" lon="0" rev="20100000"/>
            </a:lightRig>
          </a:scene3d>
          <a:sp3d>
            <a:bevelT w="508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180000"/>
              </a:schemeClr>
            </a:gs>
            <a:gs pos="100000">
              <a:schemeClr val="phClr">
                <a:shade val="45000"/>
                <a:satMod val="120000"/>
              </a:schemeClr>
            </a:gs>
          </a:gsLst>
          <a:path path="circle">
            <a:fillToRect r="10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3000"/>
                <a:satMod val="110000"/>
              </a:schemeClr>
              <a:schemeClr val="phClr">
                <a:tint val="60000"/>
                <a:satMod val="425000"/>
              </a:schemeClr>
            </a:duotone>
          </a:blip>
          <a:stretch>
            <a:fillRect/>
          </a:stretch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Apex</Template>
  <TotalTime>278</TotalTime>
  <Words>449</Words>
  <Application>Microsoft Office PowerPoint</Application>
  <PresentationFormat>On-screen Show (4:3)</PresentationFormat>
  <Paragraphs>85</Paragraphs>
  <Slides>12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Apex</vt:lpstr>
      <vt:lpstr>REGULAR EXPRESSIONS </vt:lpstr>
      <vt:lpstr>The match Function </vt:lpstr>
      <vt:lpstr>Program</vt:lpstr>
      <vt:lpstr>The search Function</vt:lpstr>
      <vt:lpstr>Program</vt:lpstr>
      <vt:lpstr>Output</vt:lpstr>
      <vt:lpstr>Matching Versus Searching </vt:lpstr>
      <vt:lpstr>Program</vt:lpstr>
      <vt:lpstr>Output</vt:lpstr>
      <vt:lpstr>Search and Replace </vt:lpstr>
      <vt:lpstr>Program</vt:lpstr>
      <vt:lpstr>Output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HCT-03</dc:creator>
  <cp:lastModifiedBy>HCT-03</cp:lastModifiedBy>
  <cp:revision>18</cp:revision>
  <dcterms:created xsi:type="dcterms:W3CDTF">2006-08-16T00:00:00Z</dcterms:created>
  <dcterms:modified xsi:type="dcterms:W3CDTF">2017-05-01T12:39:11Z</dcterms:modified>
</cp:coreProperties>
</file>